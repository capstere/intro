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Öppning:,Jag hade tänkt skippa PowerPoint, men eftersom detta är visuellt börjar vi med några få slides och testar sedan verktyget praktiskt.,Målet är inte att läsa D29447 rad för rad. Målet är att vi ska göra samma bedömning i praktiken.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 tydligt:,Jag kommer hålla det här kort och styrt. Frågor som hjälper oss klassificera enligt D29447 tar vi. Tool-design och tekniska sidospår parkerar vi och tar separat.,Om någon börjar med 30/36, lins, ytkemi eller ljusbrytning: Det är tool design. Inte dagens ämne. I träningen använder vi released D29447 och released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Säg:,Bakgrunden är POFS-PDR och projektdata. Gränsen är inte en åsikt i rummet. Det är ett beslutat acceptanskriterium.,Viktigt: säg inte mer tekniskt än du behöver. Håll det riskbaserat och praktiskt.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Säg:,Det här är kärnan. Tidigare var det enklare men striktare. Nu är kriteriet lättat: vi bedömer omfattningen.,Om någon säger att det var enklare förut: Ja. Förut failade vi mer. Nu har vi en definierad gräns och ett hjälpverktyg.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Säg:,Det här är huvudändringen: ≤10% unsealed outer film seal är PASS.,Undvik extra diskussion här. Peka på bilden, visa verktyget, gå vidare.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Säg:,Om ett sammanhängande unsealed område är större än referensen är det Minor Visual / POFS.,Om någon börjar diskutera mikrometrar: Detta är visuell inspektion enligt D29447. Gränsfall hanteras med overlay och supervisor/kollega.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Säg:,Här ska vi inte börja skapa lokal matematik. Flera separata släpp är Minor Visual / POFS.,Om någon säger att varje gap är litet: Ja, men regeln är multiple locations = Minor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Säg:,Spray-like/non-uniform är en smärtpunkt. Håll det enkelt: i den här bedömningen räknas det som unsealed area.,Frågan blir: ett sammanhängande område eller flera separata områden? Gränsfall hanteras med overlay och supervisor/kollega.,Om någon vill definiera spray kemiskt/optiskt: Det är inte dagens nivå. Dagens nivå är operativ klassificering enligt D29447.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Säg:,Verktyget är till för att vägleda vid gränsfall. Det ersätter inte all bedömning, men minskar variation.,Om någon frågar om verktygets design: Jag parkerar den. Released tool är godkänt hjälpmedel och används enligt D29447.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Go-to-slide om någon påstår att POFS måste vara exakt mätning:,Säg: Jag vill bara visa några exempel från nuvarande D29447, som vi redan arbetar efter.,Pausa två sekunder. Låt dem läsa.,Säg sedan: Det här är visuella bedömningskriterier vi redan använder idag. POFS ligger på samma nivå, men med ett hjälpverktyg.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Säg:,Jag kommer ta frågor efter genomgången och praktisk demo. Många frågor blir enklare när ni har sett och testat verktyget.,Om någon försöker kapa rummet: Jag stoppar där. Det där är tool design, inte klassificering enligt D29447.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ska de få hålla i verktyget. Ställ frågor tillbaka:,Vad ser ni? Är det ett sammanhängande område eller flera? Behöver ni overlay?,Bekräfta rätt resonemang, inte bara rätt svar.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Avslutning:,Det viktigaste är inte att ni minns varje ord. Det viktigaste är att samma situation ger samma beslut.,Vid osäkerhet: använd overlay, ta stöd av supervisor/kollega och skapa inte egen skiftpraxis.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Backup-slide. Använd bara om det behövs.,Det här är dina standardsvar för att stoppa sidospår utan att bli personlig.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F"/>
          </a:solidFill>
          <a:ln w="12700">
            <a:solidFill>
              <a:srgbClr val="333333">
                <a:alpha val="0"/>
              </a:srgbClr>
            </a:solidFill>
            <a:prstDash val="solid"/>
          </a:ln>
        </p:spPr>
      </p:sp>
      <p:sp>
        <p:nvSpPr>
          <p:cNvPr id="3" name="Shape 1"/>
          <p:cNvSpPr/>
          <p:nvPr/>
        </p:nvSpPr>
        <p:spPr>
          <a:xfrm>
            <a:off x="0" y="0"/>
            <a:ext cx="12191695" cy="256032"/>
          </a:xfrm>
          <a:prstGeom prst="rect">
            <a:avLst/>
          </a:prstGeom>
          <a:solidFill>
            <a:srgbClr val="0B1F3A"/>
          </a:solidFill>
          <a:ln w="12700">
            <a:solidFill>
              <a:srgbClr val="333333">
                <a:alpha val="0"/>
              </a:srgbClr>
            </a:solidFill>
            <a:prstDash val="solid"/>
          </a:ln>
        </p:spPr>
      </p:sp>
      <p:sp>
        <p:nvSpPr>
          <p:cNvPr id="4" name="Text 2"/>
          <p:cNvSpPr/>
          <p:nvPr/>
        </p:nvSpPr>
        <p:spPr>
          <a:xfrm>
            <a:off x="640080" y="960120"/>
            <a:ext cx="2377440" cy="502920"/>
          </a:xfrm>
          <a:prstGeom prst="rect">
            <a:avLst/>
          </a:prstGeom>
          <a:noFill/>
          <a:ln/>
        </p:spPr>
        <p:txBody>
          <a:bodyPr wrap="square" lIns="0" tIns="0" rIns="0" bIns="0" rtlCol="0" anchor="ctr"/>
          <a:lstStyle/>
          <a:p>
            <a:pPr indent="0" marL="0">
              <a:buNone/>
            </a:pPr>
            <a:r>
              <a:rPr lang="en-US" sz="1800" b="1" dirty="0">
                <a:solidFill>
                  <a:srgbClr val="1E5AA8"/>
                </a:solidFill>
              </a:rPr>
              <a:t>POFS</a:t>
            </a:r>
            <a:endParaRPr lang="en-US" sz="1800" dirty="0"/>
          </a:p>
        </p:txBody>
      </p:sp>
      <p:sp>
        <p:nvSpPr>
          <p:cNvPr id="5" name="Text 3"/>
          <p:cNvSpPr/>
          <p:nvPr/>
        </p:nvSpPr>
        <p:spPr>
          <a:xfrm>
            <a:off x="621792" y="1508760"/>
            <a:ext cx="7543800" cy="594360"/>
          </a:xfrm>
          <a:prstGeom prst="rect">
            <a:avLst/>
          </a:prstGeom>
          <a:noFill/>
          <a:ln/>
        </p:spPr>
        <p:txBody>
          <a:bodyPr wrap="square" lIns="0" tIns="0" rIns="0" bIns="0" rtlCol="0" anchor="ctr"/>
          <a:lstStyle/>
          <a:p>
            <a:pPr indent="0" marL="0">
              <a:buNone/>
            </a:pPr>
            <a:r>
              <a:rPr lang="en-US" sz="3200" b="1" dirty="0">
                <a:solidFill>
                  <a:srgbClr val="0B1F3A"/>
                </a:solidFill>
              </a:rPr>
              <a:t>Uppdaterade kriterier i D29447</a:t>
            </a:r>
            <a:endParaRPr lang="en-US" sz="3200" dirty="0"/>
          </a:p>
        </p:txBody>
      </p:sp>
      <p:sp>
        <p:nvSpPr>
          <p:cNvPr id="6" name="Text 4"/>
          <p:cNvSpPr/>
          <p:nvPr/>
        </p:nvSpPr>
        <p:spPr>
          <a:xfrm>
            <a:off x="658368" y="2240280"/>
            <a:ext cx="7543800" cy="320040"/>
          </a:xfrm>
          <a:prstGeom prst="rect">
            <a:avLst/>
          </a:prstGeom>
          <a:noFill/>
          <a:ln/>
        </p:spPr>
        <p:txBody>
          <a:bodyPr wrap="square" lIns="0" tIns="0" rIns="0" bIns="0" rtlCol="0" anchor="ctr"/>
          <a:lstStyle/>
          <a:p>
            <a:pPr indent="0" marL="0">
              <a:buNone/>
            </a:pPr>
            <a:r>
              <a:rPr lang="en-US" sz="1600" dirty="0">
                <a:solidFill>
                  <a:srgbClr val="4A4A4A"/>
                </a:solidFill>
              </a:rPr>
              <a:t>Kort genomgång inför release + praktisk användning av overlay-verktyg</a:t>
            </a:r>
            <a:endParaRPr lang="en-US" sz="1600" dirty="0"/>
          </a:p>
        </p:txBody>
      </p:sp>
      <p:sp>
        <p:nvSpPr>
          <p:cNvPr id="7" name="Shape 5"/>
          <p:cNvSpPr/>
          <p:nvPr/>
        </p:nvSpPr>
        <p:spPr>
          <a:xfrm>
            <a:off x="8458200" y="1097280"/>
            <a:ext cx="2880360" cy="2880360"/>
          </a:xfrm>
          <a:prstGeom prst="roundRect">
            <a:avLst>
              <a:gd name="adj" fmla="val 1270"/>
            </a:avLst>
          </a:prstGeom>
          <a:solidFill>
            <a:srgbClr val="F5F7FA"/>
          </a:solidFill>
          <a:ln w="15240">
            <a:solidFill>
              <a:srgbClr val="D9DEE8"/>
            </a:solidFill>
            <a:prstDash val="solid"/>
          </a:ln>
        </p:spPr>
      </p:sp>
      <p:sp>
        <p:nvSpPr>
          <p:cNvPr id="8" name="Text 6"/>
          <p:cNvSpPr/>
          <p:nvPr/>
        </p:nvSpPr>
        <p:spPr>
          <a:xfrm>
            <a:off x="8549640" y="2391156"/>
            <a:ext cx="269748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bild på lock / overlay</a:t>
            </a:r>
            <a:endParaRPr lang="en-US" sz="1400" dirty="0"/>
          </a:p>
        </p:txBody>
      </p:sp>
      <p:sp>
        <p:nvSpPr>
          <p:cNvPr id="9" name="Shape 7"/>
          <p:cNvSpPr/>
          <p:nvPr/>
        </p:nvSpPr>
        <p:spPr>
          <a:xfrm>
            <a:off x="685800" y="4160520"/>
            <a:ext cx="3383280" cy="777240"/>
          </a:xfrm>
          <a:prstGeom prst="roundRect">
            <a:avLst>
              <a:gd name="adj" fmla="val 14118"/>
            </a:avLst>
          </a:prstGeom>
          <a:solidFill>
            <a:srgbClr val="2E7D32"/>
          </a:solidFill>
          <a:ln w="12700">
            <a:solidFill>
              <a:srgbClr val="2E7D32">
                <a:alpha val="0"/>
              </a:srgbClr>
            </a:solidFill>
            <a:prstDash val="solid"/>
          </a:ln>
        </p:spPr>
      </p:sp>
      <p:sp>
        <p:nvSpPr>
          <p:cNvPr id="10" name="Text 8"/>
          <p:cNvSpPr/>
          <p:nvPr/>
        </p:nvSpPr>
        <p:spPr>
          <a:xfrm>
            <a:off x="795528" y="4270248"/>
            <a:ext cx="3163824" cy="557784"/>
          </a:xfrm>
          <a:prstGeom prst="rect">
            <a:avLst/>
          </a:prstGeom>
          <a:noFill/>
          <a:ln/>
        </p:spPr>
        <p:txBody>
          <a:bodyPr wrap="square" lIns="0" tIns="0" rIns="0" bIns="0" rtlCol="0" anchor="ctr"/>
          <a:lstStyle/>
          <a:p>
            <a:pPr algn="ctr" indent="0" marL="0">
              <a:buNone/>
            </a:pPr>
            <a:r>
              <a:rPr lang="en-US" sz="2700" b="1" dirty="0">
                <a:solidFill>
                  <a:srgbClr val="FFFFFF"/>
                </a:solidFill>
              </a:rPr>
              <a:t>≤10% = PASS</a:t>
            </a:r>
            <a:endParaRPr lang="en-US" sz="2700" dirty="0"/>
          </a:p>
        </p:txBody>
      </p:sp>
      <p:sp>
        <p:nvSpPr>
          <p:cNvPr id="11" name="Shape 9"/>
          <p:cNvSpPr/>
          <p:nvPr/>
        </p:nvSpPr>
        <p:spPr>
          <a:xfrm>
            <a:off x="4343400" y="4160520"/>
            <a:ext cx="3840480" cy="777240"/>
          </a:xfrm>
          <a:prstGeom prst="roundRect">
            <a:avLst>
              <a:gd name="adj" fmla="val 14118"/>
            </a:avLst>
          </a:prstGeom>
          <a:solidFill>
            <a:srgbClr val="B71C1C"/>
          </a:solidFill>
          <a:ln w="12700">
            <a:solidFill>
              <a:srgbClr val="B71C1C">
                <a:alpha val="0"/>
              </a:srgbClr>
            </a:solidFill>
            <a:prstDash val="solid"/>
          </a:ln>
        </p:spPr>
      </p:sp>
      <p:sp>
        <p:nvSpPr>
          <p:cNvPr id="12" name="Text 10"/>
          <p:cNvSpPr/>
          <p:nvPr/>
        </p:nvSpPr>
        <p:spPr>
          <a:xfrm>
            <a:off x="4453128" y="4270248"/>
            <a:ext cx="3621024" cy="557784"/>
          </a:xfrm>
          <a:prstGeom prst="rect">
            <a:avLst/>
          </a:prstGeom>
          <a:noFill/>
          <a:ln/>
        </p:spPr>
        <p:txBody>
          <a:bodyPr wrap="square" lIns="0" tIns="0" rIns="0" bIns="0" rtlCol="0" anchor="ctr"/>
          <a:lstStyle/>
          <a:p>
            <a:pPr algn="ctr" indent="0" marL="0">
              <a:buNone/>
            </a:pPr>
            <a:r>
              <a:rPr lang="en-US" sz="2700" b="1" dirty="0">
                <a:solidFill>
                  <a:srgbClr val="FFFFFF"/>
                </a:solidFill>
              </a:rPr>
              <a:t>&gt;10% = Minor Visual</a:t>
            </a:r>
            <a:endParaRPr lang="en-US" sz="2700" dirty="0"/>
          </a:p>
        </p:txBody>
      </p:sp>
      <p:sp>
        <p:nvSpPr>
          <p:cNvPr id="13" name="Text 11"/>
          <p:cNvSpPr/>
          <p:nvPr/>
        </p:nvSpPr>
        <p:spPr>
          <a:xfrm>
            <a:off x="694944" y="5212080"/>
            <a:ext cx="9784080" cy="365760"/>
          </a:xfrm>
          <a:prstGeom prst="rect">
            <a:avLst/>
          </a:prstGeom>
          <a:noFill/>
          <a:ln/>
        </p:spPr>
        <p:txBody>
          <a:bodyPr wrap="square" lIns="0" tIns="0" rIns="0" bIns="0" rtlCol="0" anchor="ctr"/>
          <a:lstStyle/>
          <a:p>
            <a:pPr indent="0" marL="0">
              <a:buNone/>
            </a:pPr>
            <a:r>
              <a:rPr lang="en-US" sz="1550" b="1" dirty="0">
                <a:solidFill>
                  <a:srgbClr val="0B1F3A"/>
                </a:solidFill>
              </a:rPr>
              <a:t>Fokus: samma situation ska ge samma beslut oavsett skift.</a:t>
            </a:r>
            <a:endParaRPr lang="en-US" sz="1550" dirty="0"/>
          </a:p>
        </p:txBody>
      </p:sp>
      <p:sp>
        <p:nvSpPr>
          <p:cNvPr id="14" name="Text 12"/>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5" name="Text 13"/>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Ramen för genomgången</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Kort, styrt och praktiskt – inte en design review.</a:t>
            </a:r>
            <a:endParaRPr lang="en-US" sz="1150" dirty="0"/>
          </a:p>
        </p:txBody>
      </p:sp>
      <p:sp>
        <p:nvSpPr>
          <p:cNvPr id="4" name="Text 2"/>
          <p:cNvSpPr/>
          <p:nvPr/>
        </p:nvSpPr>
        <p:spPr>
          <a:xfrm>
            <a:off x="685800" y="1325880"/>
            <a:ext cx="3291840" cy="219456"/>
          </a:xfrm>
          <a:prstGeom prst="rect">
            <a:avLst/>
          </a:prstGeom>
          <a:noFill/>
          <a:ln/>
        </p:spPr>
        <p:txBody>
          <a:bodyPr wrap="square" lIns="0" tIns="0" rIns="0" bIns="0" rtlCol="0" anchor="ctr"/>
          <a:lstStyle/>
          <a:p>
            <a:pPr indent="0" marL="0">
              <a:buNone/>
            </a:pPr>
            <a:r>
              <a:rPr lang="en-US" sz="900" b="1" dirty="0">
                <a:solidFill>
                  <a:srgbClr val="1E5AA8"/>
                </a:solidFill>
              </a:rPr>
              <a:t>VI GÅR IGENOM</a:t>
            </a:r>
            <a:endParaRPr lang="en-US" sz="900" dirty="0"/>
          </a:p>
        </p:txBody>
      </p:sp>
      <p:sp>
        <p:nvSpPr>
          <p:cNvPr id="5" name="Shape 3"/>
          <p:cNvSpPr/>
          <p:nvPr/>
        </p:nvSpPr>
        <p:spPr>
          <a:xfrm>
            <a:off x="658368" y="1609344"/>
            <a:ext cx="5394960" cy="685800"/>
          </a:xfrm>
          <a:prstGeom prst="roundRect">
            <a:avLst>
              <a:gd name="adj" fmla="val 8000"/>
            </a:avLst>
          </a:prstGeom>
          <a:solidFill>
            <a:srgbClr val="EAF2FF"/>
          </a:solidFill>
          <a:ln w="12700">
            <a:solidFill>
              <a:srgbClr val="C7DAFF"/>
            </a:solidFill>
            <a:prstDash val="solid"/>
          </a:ln>
        </p:spPr>
      </p:sp>
      <p:sp>
        <p:nvSpPr>
          <p:cNvPr id="6" name="Text 4"/>
          <p:cNvSpPr/>
          <p:nvPr/>
        </p:nvSpPr>
        <p:spPr>
          <a:xfrm>
            <a:off x="822960" y="1737360"/>
            <a:ext cx="506577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Nya POFS-kriterier i D29447</a:t>
            </a:r>
            <a:endParaRPr lang="en-US" sz="1500" dirty="0"/>
          </a:p>
        </p:txBody>
      </p:sp>
      <p:sp>
        <p:nvSpPr>
          <p:cNvPr id="7" name="Shape 5"/>
          <p:cNvSpPr/>
          <p:nvPr/>
        </p:nvSpPr>
        <p:spPr>
          <a:xfrm>
            <a:off x="658368" y="2450592"/>
            <a:ext cx="5394960" cy="685800"/>
          </a:xfrm>
          <a:prstGeom prst="roundRect">
            <a:avLst>
              <a:gd name="adj" fmla="val 8000"/>
            </a:avLst>
          </a:prstGeom>
          <a:solidFill>
            <a:srgbClr val="EAF2FF"/>
          </a:solidFill>
          <a:ln w="12700">
            <a:solidFill>
              <a:srgbClr val="C7DAFF"/>
            </a:solidFill>
            <a:prstDash val="solid"/>
          </a:ln>
        </p:spPr>
      </p:sp>
      <p:sp>
        <p:nvSpPr>
          <p:cNvPr id="8" name="Text 6"/>
          <p:cNvSpPr/>
          <p:nvPr/>
        </p:nvSpPr>
        <p:spPr>
          <a:xfrm>
            <a:off x="822960" y="2578608"/>
            <a:ext cx="506577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PASS vs Minor Visual</a:t>
            </a:r>
            <a:endParaRPr lang="en-US" sz="1500" dirty="0"/>
          </a:p>
        </p:txBody>
      </p:sp>
      <p:sp>
        <p:nvSpPr>
          <p:cNvPr id="9" name="Shape 7"/>
          <p:cNvSpPr/>
          <p:nvPr/>
        </p:nvSpPr>
        <p:spPr>
          <a:xfrm>
            <a:off x="658368" y="3291840"/>
            <a:ext cx="5394960" cy="685800"/>
          </a:xfrm>
          <a:prstGeom prst="roundRect">
            <a:avLst>
              <a:gd name="adj" fmla="val 8000"/>
            </a:avLst>
          </a:prstGeom>
          <a:solidFill>
            <a:srgbClr val="EAF2FF"/>
          </a:solidFill>
          <a:ln w="12700">
            <a:solidFill>
              <a:srgbClr val="C7DAFF"/>
            </a:solidFill>
            <a:prstDash val="solid"/>
          </a:ln>
        </p:spPr>
      </p:sp>
      <p:sp>
        <p:nvSpPr>
          <p:cNvPr id="10" name="Text 8"/>
          <p:cNvSpPr/>
          <p:nvPr/>
        </p:nvSpPr>
        <p:spPr>
          <a:xfrm>
            <a:off x="822960" y="3419856"/>
            <a:ext cx="506577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Hur overlay-verktyget används</a:t>
            </a:r>
            <a:endParaRPr lang="en-US" sz="1500" dirty="0"/>
          </a:p>
        </p:txBody>
      </p:sp>
      <p:sp>
        <p:nvSpPr>
          <p:cNvPr id="11" name="Shape 9"/>
          <p:cNvSpPr/>
          <p:nvPr/>
        </p:nvSpPr>
        <p:spPr>
          <a:xfrm>
            <a:off x="658368" y="4133088"/>
            <a:ext cx="5394960" cy="685800"/>
          </a:xfrm>
          <a:prstGeom prst="roundRect">
            <a:avLst>
              <a:gd name="adj" fmla="val 8000"/>
            </a:avLst>
          </a:prstGeom>
          <a:solidFill>
            <a:srgbClr val="EAF2FF"/>
          </a:solidFill>
          <a:ln w="12700">
            <a:solidFill>
              <a:srgbClr val="C7DAFF"/>
            </a:solidFill>
            <a:prstDash val="solid"/>
          </a:ln>
        </p:spPr>
      </p:sp>
      <p:sp>
        <p:nvSpPr>
          <p:cNvPr id="12" name="Text 10"/>
          <p:cNvSpPr/>
          <p:nvPr/>
        </p:nvSpPr>
        <p:spPr>
          <a:xfrm>
            <a:off x="822960" y="4261104"/>
            <a:ext cx="506577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Praktisk övning på cartridges</a:t>
            </a:r>
            <a:endParaRPr lang="en-US" sz="1500" dirty="0"/>
          </a:p>
        </p:txBody>
      </p:sp>
      <p:sp>
        <p:nvSpPr>
          <p:cNvPr id="13" name="Text 11"/>
          <p:cNvSpPr/>
          <p:nvPr/>
        </p:nvSpPr>
        <p:spPr>
          <a:xfrm>
            <a:off x="6446520" y="1325880"/>
            <a:ext cx="3291840" cy="219456"/>
          </a:xfrm>
          <a:prstGeom prst="rect">
            <a:avLst/>
          </a:prstGeom>
          <a:noFill/>
          <a:ln/>
        </p:spPr>
        <p:txBody>
          <a:bodyPr wrap="square" lIns="0" tIns="0" rIns="0" bIns="0" rtlCol="0" anchor="ctr"/>
          <a:lstStyle/>
          <a:p>
            <a:pPr indent="0" marL="0">
              <a:buNone/>
            </a:pPr>
            <a:r>
              <a:rPr lang="en-US" sz="900" b="1" dirty="0">
                <a:solidFill>
                  <a:srgbClr val="1E5AA8"/>
                </a:solidFill>
              </a:rPr>
              <a:t>VI GÅR INTE IN PÅ</a:t>
            </a:r>
            <a:endParaRPr lang="en-US" sz="900" dirty="0"/>
          </a:p>
        </p:txBody>
      </p:sp>
      <p:sp>
        <p:nvSpPr>
          <p:cNvPr id="14" name="Shape 12"/>
          <p:cNvSpPr/>
          <p:nvPr/>
        </p:nvSpPr>
        <p:spPr>
          <a:xfrm>
            <a:off x="6419088" y="1609344"/>
            <a:ext cx="5120640" cy="685800"/>
          </a:xfrm>
          <a:prstGeom prst="roundRect">
            <a:avLst>
              <a:gd name="adj" fmla="val 8000"/>
            </a:avLst>
          </a:prstGeom>
          <a:solidFill>
            <a:srgbClr val="FFF6E2"/>
          </a:solidFill>
          <a:ln w="12700">
            <a:solidFill>
              <a:srgbClr val="F3D18A"/>
            </a:solidFill>
            <a:prstDash val="solid"/>
          </a:ln>
        </p:spPr>
      </p:sp>
      <p:sp>
        <p:nvSpPr>
          <p:cNvPr id="15" name="Text 13"/>
          <p:cNvSpPr/>
          <p:nvPr/>
        </p:nvSpPr>
        <p:spPr>
          <a:xfrm>
            <a:off x="6583680" y="1737360"/>
            <a:ext cx="479145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Tool design / lins / material</a:t>
            </a:r>
            <a:endParaRPr lang="en-US" sz="1500" dirty="0"/>
          </a:p>
        </p:txBody>
      </p:sp>
      <p:sp>
        <p:nvSpPr>
          <p:cNvPr id="16" name="Shape 14"/>
          <p:cNvSpPr/>
          <p:nvPr/>
        </p:nvSpPr>
        <p:spPr>
          <a:xfrm>
            <a:off x="6419088" y="2450592"/>
            <a:ext cx="5120640" cy="685800"/>
          </a:xfrm>
          <a:prstGeom prst="roundRect">
            <a:avLst>
              <a:gd name="adj" fmla="val 8000"/>
            </a:avLst>
          </a:prstGeom>
          <a:solidFill>
            <a:srgbClr val="FFF6E2"/>
          </a:solidFill>
          <a:ln w="12700">
            <a:solidFill>
              <a:srgbClr val="F3D18A"/>
            </a:solidFill>
            <a:prstDash val="solid"/>
          </a:ln>
        </p:spPr>
      </p:sp>
      <p:sp>
        <p:nvSpPr>
          <p:cNvPr id="17" name="Text 15"/>
          <p:cNvSpPr/>
          <p:nvPr/>
        </p:nvSpPr>
        <p:spPr>
          <a:xfrm>
            <a:off x="6583680" y="2578608"/>
            <a:ext cx="479145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Alternativa kriterier</a:t>
            </a:r>
            <a:endParaRPr lang="en-US" sz="1500" dirty="0"/>
          </a:p>
        </p:txBody>
      </p:sp>
      <p:sp>
        <p:nvSpPr>
          <p:cNvPr id="18" name="Shape 16"/>
          <p:cNvSpPr/>
          <p:nvPr/>
        </p:nvSpPr>
        <p:spPr>
          <a:xfrm>
            <a:off x="6419088" y="3291840"/>
            <a:ext cx="5120640" cy="685800"/>
          </a:xfrm>
          <a:prstGeom prst="roundRect">
            <a:avLst>
              <a:gd name="adj" fmla="val 8000"/>
            </a:avLst>
          </a:prstGeom>
          <a:solidFill>
            <a:srgbClr val="FFF6E2"/>
          </a:solidFill>
          <a:ln w="12700">
            <a:solidFill>
              <a:srgbClr val="F3D18A"/>
            </a:solidFill>
            <a:prstDash val="solid"/>
          </a:ln>
        </p:spPr>
      </p:sp>
      <p:sp>
        <p:nvSpPr>
          <p:cNvPr id="19" name="Text 17"/>
          <p:cNvSpPr/>
          <p:nvPr/>
        </p:nvSpPr>
        <p:spPr>
          <a:xfrm>
            <a:off x="6583680" y="3419856"/>
            <a:ext cx="479145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D12547 / paus / observation</a:t>
            </a:r>
            <a:endParaRPr lang="en-US" sz="1500" dirty="0"/>
          </a:p>
        </p:txBody>
      </p:sp>
      <p:sp>
        <p:nvSpPr>
          <p:cNvPr id="20" name="Shape 18"/>
          <p:cNvSpPr/>
          <p:nvPr/>
        </p:nvSpPr>
        <p:spPr>
          <a:xfrm>
            <a:off x="6419088" y="4133088"/>
            <a:ext cx="5120640" cy="685800"/>
          </a:xfrm>
          <a:prstGeom prst="roundRect">
            <a:avLst>
              <a:gd name="adj" fmla="val 8000"/>
            </a:avLst>
          </a:prstGeom>
          <a:solidFill>
            <a:srgbClr val="FFF6E2"/>
          </a:solidFill>
          <a:ln w="12700">
            <a:solidFill>
              <a:srgbClr val="F3D18A"/>
            </a:solidFill>
            <a:prstDash val="solid"/>
          </a:ln>
        </p:spPr>
      </p:sp>
      <p:sp>
        <p:nvSpPr>
          <p:cNvPr id="21" name="Text 19"/>
          <p:cNvSpPr/>
          <p:nvPr/>
        </p:nvSpPr>
        <p:spPr>
          <a:xfrm>
            <a:off x="6583680" y="4261104"/>
            <a:ext cx="4791456" cy="42976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Hypotetiska specialfall utan exempel</a:t>
            </a:r>
            <a:endParaRPr lang="en-US" sz="1500" dirty="0"/>
          </a:p>
        </p:txBody>
      </p:sp>
      <p:sp>
        <p:nvSpPr>
          <p:cNvPr id="22" name="Text 20"/>
          <p:cNvSpPr/>
          <p:nvPr/>
        </p:nvSpPr>
        <p:spPr>
          <a:xfrm>
            <a:off x="685800" y="5669280"/>
            <a:ext cx="10607040" cy="329184"/>
          </a:xfrm>
          <a:prstGeom prst="rect">
            <a:avLst/>
          </a:prstGeom>
          <a:noFill/>
          <a:ln/>
        </p:spPr>
        <p:txBody>
          <a:bodyPr wrap="square" lIns="0" tIns="0" rIns="0" bIns="0" rtlCol="0" anchor="ctr"/>
          <a:lstStyle/>
          <a:p>
            <a:pPr algn="ctr" indent="0" marL="0">
              <a:buNone/>
            </a:pPr>
            <a:r>
              <a:rPr lang="en-US" sz="1600" b="1" dirty="0">
                <a:solidFill>
                  <a:srgbClr val="0B1F3A"/>
                </a:solidFill>
              </a:rPr>
              <a:t>Frågor som förtydligar klassificering tas. Sidospår parkeras.</a:t>
            </a:r>
            <a:endParaRPr lang="en-US" sz="1600" dirty="0"/>
          </a:p>
        </p:txBody>
      </p:sp>
      <p:sp>
        <p:nvSpPr>
          <p:cNvPr id="23" name="Text 21"/>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24" name="Text 22"/>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Varför ändras POFS-kriteriet?</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Bakgrund i en mening: kriteriet har lättats baserat på projektdata och riskbedömning.</a:t>
            </a:r>
            <a:endParaRPr lang="en-US" sz="1150" dirty="0"/>
          </a:p>
        </p:txBody>
      </p:sp>
      <p:sp>
        <p:nvSpPr>
          <p:cNvPr id="4" name="Shape 2"/>
          <p:cNvSpPr/>
          <p:nvPr/>
        </p:nvSpPr>
        <p:spPr>
          <a:xfrm>
            <a:off x="594360" y="1554480"/>
            <a:ext cx="2057400" cy="1005840"/>
          </a:xfrm>
          <a:prstGeom prst="chevron">
            <a:avLst/>
          </a:prstGeom>
          <a:solidFill>
            <a:srgbClr val="E7ECF5"/>
          </a:solidFill>
          <a:ln w="12700">
            <a:solidFill>
              <a:srgbClr val="333333">
                <a:alpha val="0"/>
              </a:srgbClr>
            </a:solidFill>
            <a:prstDash val="solid"/>
          </a:ln>
        </p:spPr>
      </p:sp>
      <p:sp>
        <p:nvSpPr>
          <p:cNvPr id="5" name="Text 3"/>
          <p:cNvSpPr/>
          <p:nvPr/>
        </p:nvSpPr>
        <p:spPr>
          <a:xfrm>
            <a:off x="758952" y="1847088"/>
            <a:ext cx="1371600" cy="228600"/>
          </a:xfrm>
          <a:prstGeom prst="rect">
            <a:avLst/>
          </a:prstGeom>
          <a:noFill/>
          <a:ln/>
        </p:spPr>
        <p:txBody>
          <a:bodyPr wrap="square" lIns="0" tIns="0" rIns="0" bIns="0" rtlCol="0" anchor="ctr"/>
          <a:lstStyle/>
          <a:p>
            <a:pPr indent="0" marL="0">
              <a:buNone/>
            </a:pPr>
            <a:r>
              <a:rPr lang="en-US" sz="1400" b="1" dirty="0">
                <a:solidFill>
                  <a:srgbClr val="0B1F3A"/>
                </a:solidFill>
              </a:rPr>
              <a:t>Tidigare</a:t>
            </a:r>
            <a:endParaRPr lang="en-US" sz="1400" dirty="0"/>
          </a:p>
        </p:txBody>
      </p:sp>
      <p:sp>
        <p:nvSpPr>
          <p:cNvPr id="6" name="Shape 4"/>
          <p:cNvSpPr/>
          <p:nvPr/>
        </p:nvSpPr>
        <p:spPr>
          <a:xfrm>
            <a:off x="2816352" y="1554480"/>
            <a:ext cx="2057400" cy="1005840"/>
          </a:xfrm>
          <a:prstGeom prst="chevron">
            <a:avLst/>
          </a:prstGeom>
          <a:solidFill>
            <a:srgbClr val="E7ECF5"/>
          </a:solidFill>
          <a:ln w="12700">
            <a:solidFill>
              <a:srgbClr val="333333">
                <a:alpha val="0"/>
              </a:srgbClr>
            </a:solidFill>
            <a:prstDash val="solid"/>
          </a:ln>
        </p:spPr>
      </p:sp>
      <p:sp>
        <p:nvSpPr>
          <p:cNvPr id="7" name="Text 5"/>
          <p:cNvSpPr/>
          <p:nvPr/>
        </p:nvSpPr>
        <p:spPr>
          <a:xfrm>
            <a:off x="2971800" y="1847088"/>
            <a:ext cx="1508760" cy="228600"/>
          </a:xfrm>
          <a:prstGeom prst="rect">
            <a:avLst/>
          </a:prstGeom>
          <a:noFill/>
          <a:ln/>
        </p:spPr>
        <p:txBody>
          <a:bodyPr wrap="square" lIns="0" tIns="0" rIns="0" bIns="0" rtlCol="0" anchor="ctr"/>
          <a:lstStyle/>
          <a:p>
            <a:pPr indent="0" marL="0">
              <a:buNone/>
            </a:pPr>
            <a:r>
              <a:rPr lang="en-US" sz="1400" b="1" dirty="0">
                <a:solidFill>
                  <a:srgbClr val="0B1F3A"/>
                </a:solidFill>
              </a:rPr>
              <a:t>PDR / data</a:t>
            </a:r>
            <a:endParaRPr lang="en-US" sz="1400" dirty="0"/>
          </a:p>
        </p:txBody>
      </p:sp>
      <p:sp>
        <p:nvSpPr>
          <p:cNvPr id="8" name="Shape 6"/>
          <p:cNvSpPr/>
          <p:nvPr/>
        </p:nvSpPr>
        <p:spPr>
          <a:xfrm>
            <a:off x="5038344" y="1554480"/>
            <a:ext cx="2057400" cy="1005840"/>
          </a:xfrm>
          <a:prstGeom prst="chevron">
            <a:avLst/>
          </a:prstGeom>
          <a:solidFill>
            <a:srgbClr val="E7ECF5"/>
          </a:solidFill>
          <a:ln w="12700">
            <a:solidFill>
              <a:srgbClr val="333333">
                <a:alpha val="0"/>
              </a:srgbClr>
            </a:solidFill>
            <a:prstDash val="solid"/>
          </a:ln>
        </p:spPr>
      </p:sp>
      <p:sp>
        <p:nvSpPr>
          <p:cNvPr id="9" name="Text 7"/>
          <p:cNvSpPr/>
          <p:nvPr/>
        </p:nvSpPr>
        <p:spPr>
          <a:xfrm>
            <a:off x="5138928" y="1847088"/>
            <a:ext cx="1828800" cy="228600"/>
          </a:xfrm>
          <a:prstGeom prst="rect">
            <a:avLst/>
          </a:prstGeom>
          <a:noFill/>
          <a:ln/>
        </p:spPr>
        <p:txBody>
          <a:bodyPr wrap="square" lIns="0" tIns="0" rIns="0" bIns="0" rtlCol="0" anchor="ctr"/>
          <a:lstStyle/>
          <a:p>
            <a:pPr indent="0" marL="0">
              <a:buNone/>
            </a:pPr>
            <a:r>
              <a:rPr lang="en-US" sz="1350" b="1" dirty="0">
                <a:solidFill>
                  <a:srgbClr val="0B1F3A"/>
                </a:solidFill>
              </a:rPr>
              <a:t>Riskbedömning</a:t>
            </a:r>
            <a:endParaRPr lang="en-US" sz="1350" dirty="0"/>
          </a:p>
        </p:txBody>
      </p:sp>
      <p:sp>
        <p:nvSpPr>
          <p:cNvPr id="10" name="Shape 8"/>
          <p:cNvSpPr/>
          <p:nvPr/>
        </p:nvSpPr>
        <p:spPr>
          <a:xfrm>
            <a:off x="7260336" y="1554480"/>
            <a:ext cx="2057400" cy="1005840"/>
          </a:xfrm>
          <a:prstGeom prst="chevron">
            <a:avLst/>
          </a:prstGeom>
          <a:solidFill>
            <a:srgbClr val="E7ECF5"/>
          </a:solidFill>
          <a:ln w="12700">
            <a:solidFill>
              <a:srgbClr val="333333">
                <a:alpha val="0"/>
              </a:srgbClr>
            </a:solidFill>
            <a:prstDash val="solid"/>
          </a:ln>
        </p:spPr>
      </p:sp>
      <p:sp>
        <p:nvSpPr>
          <p:cNvPr id="11" name="Text 9"/>
          <p:cNvSpPr/>
          <p:nvPr/>
        </p:nvSpPr>
        <p:spPr>
          <a:xfrm>
            <a:off x="7571232" y="1847088"/>
            <a:ext cx="1371600" cy="228600"/>
          </a:xfrm>
          <a:prstGeom prst="rect">
            <a:avLst/>
          </a:prstGeom>
          <a:noFill/>
          <a:ln/>
        </p:spPr>
        <p:txBody>
          <a:bodyPr wrap="square" lIns="0" tIns="0" rIns="0" bIns="0" rtlCol="0" anchor="ctr"/>
          <a:lstStyle/>
          <a:p>
            <a:pPr indent="0" marL="0">
              <a:buNone/>
            </a:pPr>
            <a:r>
              <a:rPr lang="en-US" sz="1400" b="1" dirty="0">
                <a:solidFill>
                  <a:srgbClr val="0B1F3A"/>
                </a:solidFill>
              </a:rPr>
              <a:t>Ny gräns</a:t>
            </a:r>
            <a:endParaRPr lang="en-US" sz="1400" dirty="0"/>
          </a:p>
        </p:txBody>
      </p:sp>
      <p:sp>
        <p:nvSpPr>
          <p:cNvPr id="12" name="Shape 10"/>
          <p:cNvSpPr/>
          <p:nvPr/>
        </p:nvSpPr>
        <p:spPr>
          <a:xfrm>
            <a:off x="9482328" y="1554480"/>
            <a:ext cx="2057400" cy="1005840"/>
          </a:xfrm>
          <a:prstGeom prst="chevron">
            <a:avLst/>
          </a:prstGeom>
          <a:solidFill>
            <a:srgbClr val="EAF2FF"/>
          </a:solidFill>
          <a:ln w="12700">
            <a:solidFill>
              <a:srgbClr val="333333">
                <a:alpha val="0"/>
              </a:srgbClr>
            </a:solidFill>
            <a:prstDash val="solid"/>
          </a:ln>
        </p:spPr>
      </p:sp>
      <p:sp>
        <p:nvSpPr>
          <p:cNvPr id="13" name="Text 11"/>
          <p:cNvSpPr/>
          <p:nvPr/>
        </p:nvSpPr>
        <p:spPr>
          <a:xfrm>
            <a:off x="9802368" y="1847088"/>
            <a:ext cx="1234440" cy="228600"/>
          </a:xfrm>
          <a:prstGeom prst="rect">
            <a:avLst/>
          </a:prstGeom>
          <a:noFill/>
          <a:ln/>
        </p:spPr>
        <p:txBody>
          <a:bodyPr wrap="square" lIns="0" tIns="0" rIns="0" bIns="0" rtlCol="0" anchor="ctr"/>
          <a:lstStyle/>
          <a:p>
            <a:pPr indent="0" marL="0">
              <a:buNone/>
            </a:pPr>
            <a:r>
              <a:rPr lang="en-US" sz="1400" b="1" dirty="0">
                <a:solidFill>
                  <a:srgbClr val="1E5AA8"/>
                </a:solidFill>
              </a:rPr>
              <a:t>Träning</a:t>
            </a:r>
            <a:endParaRPr lang="en-US" sz="1400" dirty="0"/>
          </a:p>
        </p:txBody>
      </p:sp>
      <p:sp>
        <p:nvSpPr>
          <p:cNvPr id="14" name="Shape 12"/>
          <p:cNvSpPr/>
          <p:nvPr/>
        </p:nvSpPr>
        <p:spPr>
          <a:xfrm>
            <a:off x="685800" y="3090672"/>
            <a:ext cx="3474720" cy="1234440"/>
          </a:xfrm>
          <a:prstGeom prst="roundRect">
            <a:avLst>
              <a:gd name="adj" fmla="val 4444"/>
            </a:avLst>
          </a:prstGeom>
          <a:solidFill>
            <a:srgbClr val="F8F9FB"/>
          </a:solidFill>
          <a:ln w="12700">
            <a:solidFill>
              <a:srgbClr val="D9DEE8"/>
            </a:solidFill>
            <a:prstDash val="solid"/>
          </a:ln>
        </p:spPr>
      </p:sp>
      <p:sp>
        <p:nvSpPr>
          <p:cNvPr id="15" name="Text 13"/>
          <p:cNvSpPr/>
          <p:nvPr/>
        </p:nvSpPr>
        <p:spPr>
          <a:xfrm>
            <a:off x="850392" y="3218688"/>
            <a:ext cx="3145536" cy="978408"/>
          </a:xfrm>
          <a:prstGeom prst="rect">
            <a:avLst/>
          </a:prstGeom>
          <a:noFill/>
          <a:ln/>
        </p:spPr>
        <p:txBody>
          <a:bodyPr wrap="square" lIns="254" tIns="254" rIns="254" bIns="254" rtlCol="0" anchor="ctr">
            <a:normAutofit/>
          </a:bodyPr>
          <a:lstStyle/>
          <a:p>
            <a:pPr indent="0" marL="0">
              <a:buNone/>
            </a:pPr>
            <a:r>
              <a:rPr lang="en-US" sz="1500" dirty="0">
                <a:solidFill>
                  <a:srgbClr val="111111"/>
                </a:solidFill>
              </a:rPr>
              <a:t>Historiskt kunde &lt;100% outer seal klassas som Minor Visual / POFS.</a:t>
            </a:r>
            <a:endParaRPr lang="en-US" sz="1500" dirty="0"/>
          </a:p>
        </p:txBody>
      </p:sp>
      <p:sp>
        <p:nvSpPr>
          <p:cNvPr id="16" name="Shape 14"/>
          <p:cNvSpPr/>
          <p:nvPr/>
        </p:nvSpPr>
        <p:spPr>
          <a:xfrm>
            <a:off x="4343400" y="3090672"/>
            <a:ext cx="3474720" cy="1234440"/>
          </a:xfrm>
          <a:prstGeom prst="roundRect">
            <a:avLst>
              <a:gd name="adj" fmla="val 4444"/>
            </a:avLst>
          </a:prstGeom>
          <a:solidFill>
            <a:srgbClr val="F8F9FB"/>
          </a:solidFill>
          <a:ln w="12700">
            <a:solidFill>
              <a:srgbClr val="D9DEE8"/>
            </a:solidFill>
            <a:prstDash val="solid"/>
          </a:ln>
        </p:spPr>
      </p:sp>
      <p:sp>
        <p:nvSpPr>
          <p:cNvPr id="17" name="Text 15"/>
          <p:cNvSpPr/>
          <p:nvPr/>
        </p:nvSpPr>
        <p:spPr>
          <a:xfrm>
            <a:off x="4507992" y="3218688"/>
            <a:ext cx="3145536" cy="978408"/>
          </a:xfrm>
          <a:prstGeom prst="rect">
            <a:avLst/>
          </a:prstGeom>
          <a:noFill/>
          <a:ln/>
        </p:spPr>
        <p:txBody>
          <a:bodyPr wrap="square" lIns="254" tIns="254" rIns="254" bIns="254" rtlCol="0" anchor="ctr">
            <a:normAutofit/>
          </a:bodyPr>
          <a:lstStyle/>
          <a:p>
            <a:pPr indent="0" marL="0">
              <a:buNone/>
            </a:pPr>
            <a:r>
              <a:rPr lang="en-US" sz="1500" dirty="0">
                <a:solidFill>
                  <a:srgbClr val="111111"/>
                </a:solidFill>
              </a:rPr>
              <a:t>Projektet har granskat risk, data och funktionell påverkan.</a:t>
            </a:r>
            <a:endParaRPr lang="en-US" sz="1500" dirty="0"/>
          </a:p>
        </p:txBody>
      </p:sp>
      <p:sp>
        <p:nvSpPr>
          <p:cNvPr id="18" name="Shape 16"/>
          <p:cNvSpPr/>
          <p:nvPr/>
        </p:nvSpPr>
        <p:spPr>
          <a:xfrm>
            <a:off x="8001000" y="3090672"/>
            <a:ext cx="3474720" cy="1234440"/>
          </a:xfrm>
          <a:prstGeom prst="roundRect">
            <a:avLst>
              <a:gd name="adj" fmla="val 4444"/>
            </a:avLst>
          </a:prstGeom>
          <a:solidFill>
            <a:srgbClr val="E9F6EC"/>
          </a:solidFill>
          <a:ln w="12700">
            <a:solidFill>
              <a:srgbClr val="B6D8B8"/>
            </a:solidFill>
            <a:prstDash val="solid"/>
          </a:ln>
        </p:spPr>
      </p:sp>
      <p:sp>
        <p:nvSpPr>
          <p:cNvPr id="19" name="Text 17"/>
          <p:cNvSpPr/>
          <p:nvPr/>
        </p:nvSpPr>
        <p:spPr>
          <a:xfrm>
            <a:off x="8165592" y="3218688"/>
            <a:ext cx="3145536" cy="978408"/>
          </a:xfrm>
          <a:prstGeom prst="rect">
            <a:avLst/>
          </a:prstGeom>
          <a:noFill/>
          <a:ln/>
        </p:spPr>
        <p:txBody>
          <a:bodyPr wrap="square" lIns="254" tIns="254" rIns="254" bIns="254" rtlCol="0" anchor="ctr">
            <a:normAutofit/>
          </a:bodyPr>
          <a:lstStyle/>
          <a:p>
            <a:pPr indent="0" marL="0">
              <a:buNone/>
            </a:pPr>
            <a:r>
              <a:rPr lang="en-US" sz="1500" b="1" dirty="0">
                <a:solidFill>
                  <a:srgbClr val="111111"/>
                </a:solidFill>
              </a:rPr>
              <a:t>Ny D29447 tillåter ≤10% unsealed outer film seal som PASS.</a:t>
            </a:r>
            <a:endParaRPr lang="en-US" sz="1500" dirty="0"/>
          </a:p>
        </p:txBody>
      </p:sp>
      <p:sp>
        <p:nvSpPr>
          <p:cNvPr id="20" name="Text 18"/>
          <p:cNvSpPr/>
          <p:nvPr/>
        </p:nvSpPr>
        <p:spPr>
          <a:xfrm>
            <a:off x="960120" y="5212080"/>
            <a:ext cx="10149840" cy="329184"/>
          </a:xfrm>
          <a:prstGeom prst="rect">
            <a:avLst/>
          </a:prstGeom>
          <a:noFill/>
          <a:ln/>
        </p:spPr>
        <p:txBody>
          <a:bodyPr wrap="square" lIns="0" tIns="0" rIns="0" bIns="0" rtlCol="0" anchor="ctr"/>
          <a:lstStyle/>
          <a:p>
            <a:pPr algn="ctr" indent="0" marL="0">
              <a:buNone/>
            </a:pPr>
            <a:r>
              <a:rPr lang="en-US" sz="1700" b="1" dirty="0">
                <a:solidFill>
                  <a:srgbClr val="0B1F3A"/>
                </a:solidFill>
              </a:rPr>
              <a:t>Poängen är inte att acceptera vad som helst. Poängen är en definierad gräns.</a:t>
            </a:r>
            <a:endParaRPr lang="en-US" sz="1700" dirty="0"/>
          </a:p>
        </p:txBody>
      </p:sp>
      <p:sp>
        <p:nvSpPr>
          <p:cNvPr id="21" name="Text 19"/>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22" name="Text 20"/>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Vad ändras?</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Kärnan: från automatisk klassning till omfattningsbedömning.</a:t>
            </a:r>
            <a:endParaRPr lang="en-US" sz="1150" dirty="0"/>
          </a:p>
        </p:txBody>
      </p:sp>
      <p:sp>
        <p:nvSpPr>
          <p:cNvPr id="4" name="Text 2"/>
          <p:cNvSpPr/>
          <p:nvPr/>
        </p:nvSpPr>
        <p:spPr>
          <a:xfrm>
            <a:off x="713232" y="1389888"/>
            <a:ext cx="4937760" cy="347472"/>
          </a:xfrm>
          <a:prstGeom prst="rect">
            <a:avLst/>
          </a:prstGeom>
          <a:noFill/>
          <a:ln/>
        </p:spPr>
        <p:txBody>
          <a:bodyPr wrap="square" lIns="0" tIns="0" rIns="0" bIns="0" rtlCol="0" anchor="ctr"/>
          <a:lstStyle/>
          <a:p>
            <a:pPr indent="0" marL="0">
              <a:buNone/>
            </a:pPr>
            <a:r>
              <a:rPr lang="en-US" sz="1800" b="1" dirty="0">
                <a:solidFill>
                  <a:srgbClr val="4A4A4A"/>
                </a:solidFill>
              </a:rPr>
              <a:t>Tidigare</a:t>
            </a:r>
            <a:endParaRPr lang="en-US" sz="1800" dirty="0"/>
          </a:p>
        </p:txBody>
      </p:sp>
      <p:sp>
        <p:nvSpPr>
          <p:cNvPr id="5" name="Shape 3"/>
          <p:cNvSpPr/>
          <p:nvPr/>
        </p:nvSpPr>
        <p:spPr>
          <a:xfrm>
            <a:off x="685800" y="1810512"/>
            <a:ext cx="5120640" cy="2468880"/>
          </a:xfrm>
          <a:prstGeom prst="roundRect">
            <a:avLst>
              <a:gd name="adj" fmla="val 2963"/>
            </a:avLst>
          </a:prstGeom>
          <a:solidFill>
            <a:srgbClr val="FDEAEA"/>
          </a:solidFill>
          <a:ln w="12700">
            <a:solidFill>
              <a:srgbClr val="F2A2A2"/>
            </a:solidFill>
            <a:prstDash val="solid"/>
          </a:ln>
        </p:spPr>
      </p:sp>
      <p:sp>
        <p:nvSpPr>
          <p:cNvPr id="6" name="Text 4"/>
          <p:cNvSpPr/>
          <p:nvPr/>
        </p:nvSpPr>
        <p:spPr>
          <a:xfrm>
            <a:off x="1051560" y="2331720"/>
            <a:ext cx="4343400" cy="320040"/>
          </a:xfrm>
          <a:prstGeom prst="rect">
            <a:avLst/>
          </a:prstGeom>
          <a:noFill/>
          <a:ln/>
        </p:spPr>
        <p:txBody>
          <a:bodyPr wrap="square" lIns="0" tIns="0" rIns="0" bIns="0" rtlCol="0" anchor="ctr"/>
          <a:lstStyle/>
          <a:p>
            <a:pPr algn="ctr" indent="0" marL="0">
              <a:buNone/>
            </a:pPr>
            <a:r>
              <a:rPr lang="en-US" sz="2000" b="1" dirty="0">
                <a:solidFill>
                  <a:srgbClr val="111111"/>
                </a:solidFill>
              </a:rPr>
              <a:t>Unsealed outer film seal</a:t>
            </a:r>
            <a:endParaRPr lang="en-US" sz="2000" dirty="0"/>
          </a:p>
        </p:txBody>
      </p:sp>
      <p:sp>
        <p:nvSpPr>
          <p:cNvPr id="7" name="Text 5"/>
          <p:cNvSpPr/>
          <p:nvPr/>
        </p:nvSpPr>
        <p:spPr>
          <a:xfrm>
            <a:off x="1051560" y="2788920"/>
            <a:ext cx="4343400" cy="320040"/>
          </a:xfrm>
          <a:prstGeom prst="rect">
            <a:avLst/>
          </a:prstGeom>
          <a:noFill/>
          <a:ln/>
        </p:spPr>
        <p:txBody>
          <a:bodyPr wrap="square" lIns="0" tIns="0" rIns="0" bIns="0" rtlCol="0" anchor="ctr"/>
          <a:lstStyle/>
          <a:p>
            <a:pPr algn="ctr" indent="0" marL="0">
              <a:buNone/>
            </a:pPr>
            <a:r>
              <a:rPr lang="en-US" sz="2400" b="1" dirty="0">
                <a:solidFill>
                  <a:srgbClr val="4A4A4A"/>
                </a:solidFill>
              </a:rPr>
              <a:t>=</a:t>
            </a:r>
            <a:endParaRPr lang="en-US" sz="2400" dirty="0"/>
          </a:p>
        </p:txBody>
      </p:sp>
      <p:sp>
        <p:nvSpPr>
          <p:cNvPr id="8" name="Text 6"/>
          <p:cNvSpPr/>
          <p:nvPr/>
        </p:nvSpPr>
        <p:spPr>
          <a:xfrm>
            <a:off x="1051560" y="3246120"/>
            <a:ext cx="4343400" cy="320040"/>
          </a:xfrm>
          <a:prstGeom prst="rect">
            <a:avLst/>
          </a:prstGeom>
          <a:noFill/>
          <a:ln/>
        </p:spPr>
        <p:txBody>
          <a:bodyPr wrap="square" lIns="0" tIns="0" rIns="0" bIns="0" rtlCol="0" anchor="ctr"/>
          <a:lstStyle/>
          <a:p>
            <a:pPr algn="ctr" indent="0" marL="0">
              <a:buNone/>
            </a:pPr>
            <a:r>
              <a:rPr lang="en-US" sz="2000" b="1" dirty="0">
                <a:solidFill>
                  <a:srgbClr val="B71C1C"/>
                </a:solidFill>
              </a:rPr>
              <a:t>Minor Visual / POFS</a:t>
            </a:r>
            <a:endParaRPr lang="en-US" sz="2000" dirty="0"/>
          </a:p>
        </p:txBody>
      </p:sp>
      <p:sp>
        <p:nvSpPr>
          <p:cNvPr id="9" name="Text 7"/>
          <p:cNvSpPr/>
          <p:nvPr/>
        </p:nvSpPr>
        <p:spPr>
          <a:xfrm>
            <a:off x="6355080" y="1389888"/>
            <a:ext cx="4937760" cy="347472"/>
          </a:xfrm>
          <a:prstGeom prst="rect">
            <a:avLst/>
          </a:prstGeom>
          <a:noFill/>
          <a:ln/>
        </p:spPr>
        <p:txBody>
          <a:bodyPr wrap="square" lIns="0" tIns="0" rIns="0" bIns="0" rtlCol="0" anchor="ctr"/>
          <a:lstStyle/>
          <a:p>
            <a:pPr indent="0" marL="0">
              <a:buNone/>
            </a:pPr>
            <a:r>
              <a:rPr lang="en-US" sz="1800" b="1" dirty="0">
                <a:solidFill>
                  <a:srgbClr val="4A4A4A"/>
                </a:solidFill>
              </a:rPr>
              <a:t>Nytt</a:t>
            </a:r>
            <a:endParaRPr lang="en-US" sz="1800" dirty="0"/>
          </a:p>
        </p:txBody>
      </p:sp>
      <p:sp>
        <p:nvSpPr>
          <p:cNvPr id="10" name="Shape 8"/>
          <p:cNvSpPr/>
          <p:nvPr/>
        </p:nvSpPr>
        <p:spPr>
          <a:xfrm>
            <a:off x="6327648" y="1810512"/>
            <a:ext cx="5120640" cy="2468880"/>
          </a:xfrm>
          <a:prstGeom prst="roundRect">
            <a:avLst>
              <a:gd name="adj" fmla="val 2963"/>
            </a:avLst>
          </a:prstGeom>
          <a:solidFill>
            <a:srgbClr val="EAF2FF"/>
          </a:solidFill>
          <a:ln w="12700">
            <a:solidFill>
              <a:srgbClr val="B9CFF7"/>
            </a:solidFill>
            <a:prstDash val="solid"/>
          </a:ln>
        </p:spPr>
      </p:sp>
      <p:sp>
        <p:nvSpPr>
          <p:cNvPr id="11" name="Text 9"/>
          <p:cNvSpPr/>
          <p:nvPr/>
        </p:nvSpPr>
        <p:spPr>
          <a:xfrm>
            <a:off x="6675120" y="2212848"/>
            <a:ext cx="4434840" cy="320040"/>
          </a:xfrm>
          <a:prstGeom prst="rect">
            <a:avLst/>
          </a:prstGeom>
          <a:noFill/>
          <a:ln/>
        </p:spPr>
        <p:txBody>
          <a:bodyPr wrap="square" lIns="0" tIns="0" rIns="0" bIns="0" rtlCol="0" anchor="ctr"/>
          <a:lstStyle/>
          <a:p>
            <a:pPr algn="ctr" indent="0" marL="0">
              <a:buNone/>
            </a:pPr>
            <a:r>
              <a:rPr lang="en-US" sz="2000" b="1" dirty="0">
                <a:solidFill>
                  <a:srgbClr val="0B1F3A"/>
                </a:solidFill>
              </a:rPr>
              <a:t>Bedöm omfattningen</a:t>
            </a:r>
            <a:endParaRPr lang="en-US" sz="2000" dirty="0"/>
          </a:p>
        </p:txBody>
      </p:sp>
      <p:sp>
        <p:nvSpPr>
          <p:cNvPr id="12" name="Text 10"/>
          <p:cNvSpPr/>
          <p:nvPr/>
        </p:nvSpPr>
        <p:spPr>
          <a:xfrm>
            <a:off x="6675120" y="2788920"/>
            <a:ext cx="4434840" cy="320040"/>
          </a:xfrm>
          <a:prstGeom prst="rect">
            <a:avLst/>
          </a:prstGeom>
          <a:noFill/>
          <a:ln/>
        </p:spPr>
        <p:txBody>
          <a:bodyPr wrap="square" lIns="0" tIns="0" rIns="0" bIns="0" rtlCol="0" anchor="ctr"/>
          <a:lstStyle/>
          <a:p>
            <a:pPr algn="ctr" indent="0" marL="0">
              <a:buNone/>
            </a:pPr>
            <a:r>
              <a:rPr lang="en-US" sz="2100" b="1" dirty="0">
                <a:solidFill>
                  <a:srgbClr val="2E7D32"/>
                </a:solidFill>
              </a:rPr>
              <a:t>≤10% = PASS</a:t>
            </a:r>
            <a:endParaRPr lang="en-US" sz="2100" dirty="0"/>
          </a:p>
        </p:txBody>
      </p:sp>
      <p:sp>
        <p:nvSpPr>
          <p:cNvPr id="13" name="Text 11"/>
          <p:cNvSpPr/>
          <p:nvPr/>
        </p:nvSpPr>
        <p:spPr>
          <a:xfrm>
            <a:off x="6675120" y="3337560"/>
            <a:ext cx="4434840" cy="320040"/>
          </a:xfrm>
          <a:prstGeom prst="rect">
            <a:avLst/>
          </a:prstGeom>
          <a:noFill/>
          <a:ln/>
        </p:spPr>
        <p:txBody>
          <a:bodyPr wrap="square" lIns="0" tIns="0" rIns="0" bIns="0" rtlCol="0" anchor="ctr"/>
          <a:lstStyle/>
          <a:p>
            <a:pPr algn="ctr" indent="0" marL="0">
              <a:buNone/>
            </a:pPr>
            <a:r>
              <a:rPr lang="en-US" sz="1900" b="1" dirty="0">
                <a:solidFill>
                  <a:srgbClr val="B71C1C"/>
                </a:solidFill>
              </a:rPr>
              <a:t>&gt;10% = Minor Visual / POFS</a:t>
            </a:r>
            <a:endParaRPr lang="en-US" sz="1900" dirty="0"/>
          </a:p>
        </p:txBody>
      </p:sp>
      <p:sp>
        <p:nvSpPr>
          <p:cNvPr id="14" name="Text 12"/>
          <p:cNvSpPr/>
          <p:nvPr/>
        </p:nvSpPr>
        <p:spPr>
          <a:xfrm>
            <a:off x="685800" y="5065776"/>
            <a:ext cx="10744200" cy="347472"/>
          </a:xfrm>
          <a:prstGeom prst="rect">
            <a:avLst/>
          </a:prstGeom>
          <a:noFill/>
          <a:ln/>
        </p:spPr>
        <p:txBody>
          <a:bodyPr wrap="square" lIns="0" tIns="0" rIns="0" bIns="0" rtlCol="0" anchor="ctr"/>
          <a:lstStyle/>
          <a:p>
            <a:pPr algn="ctr" indent="0" marL="0">
              <a:buNone/>
            </a:pPr>
            <a:r>
              <a:rPr lang="en-US" sz="2200" b="1" dirty="0">
                <a:solidFill>
                  <a:srgbClr val="0B1F3A"/>
                </a:solidFill>
              </a:rPr>
              <a:t>Det här är hela ändringen.</a:t>
            </a:r>
            <a:endParaRPr lang="en-US" sz="2200" dirty="0"/>
          </a:p>
        </p:txBody>
      </p:sp>
      <p:sp>
        <p:nvSpPr>
          <p:cNvPr id="15" name="Text 13"/>
          <p:cNvSpPr/>
          <p:nvPr/>
        </p:nvSpPr>
        <p:spPr>
          <a:xfrm>
            <a:off x="685800" y="5532120"/>
            <a:ext cx="10744200" cy="274320"/>
          </a:xfrm>
          <a:prstGeom prst="rect">
            <a:avLst/>
          </a:prstGeom>
          <a:noFill/>
          <a:ln/>
        </p:spPr>
        <p:txBody>
          <a:bodyPr wrap="square" lIns="0" tIns="0" rIns="0" bIns="0" rtlCol="0" anchor="ctr"/>
          <a:lstStyle/>
          <a:p>
            <a:pPr algn="ctr" indent="0" marL="0">
              <a:buNone/>
            </a:pPr>
            <a:r>
              <a:rPr lang="en-US" sz="1450" dirty="0">
                <a:solidFill>
                  <a:srgbClr val="4A4A4A"/>
                </a:solidFill>
              </a:rPr>
              <a:t>Vi går från “inte 100% sealed” till definierad omfattningsbedömning.</a:t>
            </a:r>
            <a:endParaRPr lang="en-US" sz="1450" dirty="0"/>
          </a:p>
        </p:txBody>
      </p:sp>
      <p:sp>
        <p:nvSpPr>
          <p:cNvPr id="16" name="Text 14"/>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7" name="Text 15"/>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Regel 1: ≤10% unsealed = PASS</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Ett sammanhängande släpp inom eller lika med referensen är accepterat.</a:t>
            </a:r>
            <a:endParaRPr lang="en-US" sz="1150" dirty="0"/>
          </a:p>
        </p:txBody>
      </p:sp>
      <p:sp>
        <p:nvSpPr>
          <p:cNvPr id="4" name="Shape 2"/>
          <p:cNvSpPr/>
          <p:nvPr/>
        </p:nvSpPr>
        <p:spPr>
          <a:xfrm>
            <a:off x="731520" y="1481328"/>
            <a:ext cx="4663440" cy="1005840"/>
          </a:xfrm>
          <a:prstGeom prst="roundRect">
            <a:avLst>
              <a:gd name="adj" fmla="val 10909"/>
            </a:avLst>
          </a:prstGeom>
          <a:solidFill>
            <a:srgbClr val="2E7D32"/>
          </a:solidFill>
          <a:ln w="12700">
            <a:solidFill>
              <a:srgbClr val="2E7D32">
                <a:alpha val="0"/>
              </a:srgbClr>
            </a:solidFill>
            <a:prstDash val="solid"/>
          </a:ln>
        </p:spPr>
      </p:sp>
      <p:sp>
        <p:nvSpPr>
          <p:cNvPr id="5" name="Text 3"/>
          <p:cNvSpPr/>
          <p:nvPr/>
        </p:nvSpPr>
        <p:spPr>
          <a:xfrm>
            <a:off x="841248" y="1591056"/>
            <a:ext cx="4443984" cy="786384"/>
          </a:xfrm>
          <a:prstGeom prst="rect">
            <a:avLst/>
          </a:prstGeom>
          <a:noFill/>
          <a:ln/>
        </p:spPr>
        <p:txBody>
          <a:bodyPr wrap="square" lIns="0" tIns="0" rIns="0" bIns="0" rtlCol="0" anchor="ctr"/>
          <a:lstStyle/>
          <a:p>
            <a:pPr algn="ctr" indent="0" marL="0">
              <a:buNone/>
            </a:pPr>
            <a:r>
              <a:rPr lang="en-US" sz="2700" b="1" dirty="0">
                <a:solidFill>
                  <a:srgbClr val="FFFFFF"/>
                </a:solidFill>
              </a:rPr>
              <a:t>≤10% = PASS</a:t>
            </a:r>
            <a:endParaRPr lang="en-US" sz="2700" dirty="0"/>
          </a:p>
        </p:txBody>
      </p:sp>
      <p:sp>
        <p:nvSpPr>
          <p:cNvPr id="6" name="Shape 4"/>
          <p:cNvSpPr/>
          <p:nvPr/>
        </p:nvSpPr>
        <p:spPr>
          <a:xfrm>
            <a:off x="822960" y="2852928"/>
            <a:ext cx="4572000" cy="960120"/>
          </a:xfrm>
          <a:prstGeom prst="roundRect">
            <a:avLst>
              <a:gd name="adj" fmla="val 5714"/>
            </a:avLst>
          </a:prstGeom>
          <a:solidFill>
            <a:srgbClr val="E9F6EC"/>
          </a:solidFill>
          <a:ln w="12700">
            <a:solidFill>
              <a:srgbClr val="A5D6A7"/>
            </a:solidFill>
            <a:prstDash val="solid"/>
          </a:ln>
        </p:spPr>
      </p:sp>
      <p:sp>
        <p:nvSpPr>
          <p:cNvPr id="7" name="Text 5"/>
          <p:cNvSpPr/>
          <p:nvPr/>
        </p:nvSpPr>
        <p:spPr>
          <a:xfrm>
            <a:off x="987552" y="2980944"/>
            <a:ext cx="4242816" cy="704088"/>
          </a:xfrm>
          <a:prstGeom prst="rect">
            <a:avLst/>
          </a:prstGeom>
          <a:noFill/>
          <a:ln/>
        </p:spPr>
        <p:txBody>
          <a:bodyPr wrap="square" lIns="254" tIns="254" rIns="254" bIns="254" rtlCol="0" anchor="ctr">
            <a:normAutofit/>
          </a:bodyPr>
          <a:lstStyle/>
          <a:p>
            <a:pPr indent="0" marL="0">
              <a:buNone/>
            </a:pPr>
            <a:r>
              <a:rPr lang="en-US" sz="1700" b="1" dirty="0">
                <a:solidFill>
                  <a:srgbClr val="111111"/>
                </a:solidFill>
              </a:rPr>
              <a:t>Använd overlay vid gränsfall. Om släppet ryms inom referensen: PASS.</a:t>
            </a:r>
            <a:endParaRPr lang="en-US" sz="1700" dirty="0"/>
          </a:p>
        </p:txBody>
      </p:sp>
      <p:sp>
        <p:nvSpPr>
          <p:cNvPr id="8" name="Shape 6"/>
          <p:cNvSpPr/>
          <p:nvPr/>
        </p:nvSpPr>
        <p:spPr>
          <a:xfrm>
            <a:off x="5989320" y="1207008"/>
            <a:ext cx="5120640" cy="4114800"/>
          </a:xfrm>
          <a:prstGeom prst="roundRect">
            <a:avLst>
              <a:gd name="adj" fmla="val 889"/>
            </a:avLst>
          </a:prstGeom>
          <a:solidFill>
            <a:srgbClr val="F5F7FA"/>
          </a:solidFill>
          <a:ln w="15240">
            <a:solidFill>
              <a:srgbClr val="D9DEE8"/>
            </a:solidFill>
            <a:prstDash val="solid"/>
          </a:ln>
        </p:spPr>
      </p:sp>
      <p:sp>
        <p:nvSpPr>
          <p:cNvPr id="9" name="Text 7"/>
          <p:cNvSpPr/>
          <p:nvPr/>
        </p:nvSpPr>
        <p:spPr>
          <a:xfrm>
            <a:off x="6080760" y="3118104"/>
            <a:ext cx="493776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bild: ≤10% reduced outer film seal</a:t>
            </a:r>
            <a:endParaRPr lang="en-US" sz="1400" dirty="0"/>
          </a:p>
        </p:txBody>
      </p:sp>
      <p:sp>
        <p:nvSpPr>
          <p:cNvPr id="10" name="Text 8"/>
          <p:cNvSpPr/>
          <p:nvPr/>
        </p:nvSpPr>
        <p:spPr>
          <a:xfrm>
            <a:off x="822960" y="4709160"/>
            <a:ext cx="4663440" cy="310896"/>
          </a:xfrm>
          <a:prstGeom prst="rect">
            <a:avLst/>
          </a:prstGeom>
          <a:noFill/>
          <a:ln/>
        </p:spPr>
        <p:txBody>
          <a:bodyPr wrap="square" lIns="0" tIns="0" rIns="0" bIns="0" rtlCol="0" anchor="ctr"/>
          <a:lstStyle/>
          <a:p>
            <a:pPr indent="0" marL="0">
              <a:buNone/>
            </a:pPr>
            <a:r>
              <a:rPr lang="en-US" sz="1550" b="1" dirty="0">
                <a:solidFill>
                  <a:srgbClr val="0B1F3A"/>
                </a:solidFill>
              </a:rPr>
              <a:t>Dokumentera som PASS enligt gällande flöde.</a:t>
            </a:r>
            <a:endParaRPr lang="en-US" sz="1550" dirty="0"/>
          </a:p>
        </p:txBody>
      </p:sp>
      <p:sp>
        <p:nvSpPr>
          <p:cNvPr id="11" name="Text 9"/>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2" name="Text 10"/>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Regel 2: &gt;10% unsealed = Minor Visual / POFS</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Ett sammanhängande släpp större än referensen är inte accepterat.</a:t>
            </a:r>
            <a:endParaRPr lang="en-US" sz="1150" dirty="0"/>
          </a:p>
        </p:txBody>
      </p:sp>
      <p:sp>
        <p:nvSpPr>
          <p:cNvPr id="4" name="Shape 2"/>
          <p:cNvSpPr/>
          <p:nvPr/>
        </p:nvSpPr>
        <p:spPr>
          <a:xfrm>
            <a:off x="731520" y="1481328"/>
            <a:ext cx="5120640" cy="1005840"/>
          </a:xfrm>
          <a:prstGeom prst="roundRect">
            <a:avLst>
              <a:gd name="adj" fmla="val 10909"/>
            </a:avLst>
          </a:prstGeom>
          <a:solidFill>
            <a:srgbClr val="B71C1C"/>
          </a:solidFill>
          <a:ln w="12700">
            <a:solidFill>
              <a:srgbClr val="B71C1C">
                <a:alpha val="0"/>
              </a:srgbClr>
            </a:solidFill>
            <a:prstDash val="solid"/>
          </a:ln>
        </p:spPr>
      </p:sp>
      <p:sp>
        <p:nvSpPr>
          <p:cNvPr id="5" name="Text 3"/>
          <p:cNvSpPr/>
          <p:nvPr/>
        </p:nvSpPr>
        <p:spPr>
          <a:xfrm>
            <a:off x="841248" y="1591056"/>
            <a:ext cx="4901184" cy="786384"/>
          </a:xfrm>
          <a:prstGeom prst="rect">
            <a:avLst/>
          </a:prstGeom>
          <a:noFill/>
          <a:ln/>
        </p:spPr>
        <p:txBody>
          <a:bodyPr wrap="square" lIns="0" tIns="0" rIns="0" bIns="0" rtlCol="0" anchor="ctr"/>
          <a:lstStyle/>
          <a:p>
            <a:pPr algn="ctr" indent="0" marL="0">
              <a:buNone/>
            </a:pPr>
            <a:r>
              <a:rPr lang="en-US" sz="2700" b="1" dirty="0">
                <a:solidFill>
                  <a:srgbClr val="FFFFFF"/>
                </a:solidFill>
              </a:rPr>
              <a:t>&gt;10% = Minor Visual</a:t>
            </a:r>
            <a:endParaRPr lang="en-US" sz="2700" dirty="0"/>
          </a:p>
        </p:txBody>
      </p:sp>
      <p:sp>
        <p:nvSpPr>
          <p:cNvPr id="6" name="Shape 4"/>
          <p:cNvSpPr/>
          <p:nvPr/>
        </p:nvSpPr>
        <p:spPr>
          <a:xfrm>
            <a:off x="822960" y="2852928"/>
            <a:ext cx="4663440" cy="960120"/>
          </a:xfrm>
          <a:prstGeom prst="roundRect">
            <a:avLst>
              <a:gd name="adj" fmla="val 5714"/>
            </a:avLst>
          </a:prstGeom>
          <a:solidFill>
            <a:srgbClr val="FDEAEA"/>
          </a:solidFill>
          <a:ln w="12700">
            <a:solidFill>
              <a:srgbClr val="F2A2A2"/>
            </a:solidFill>
            <a:prstDash val="solid"/>
          </a:ln>
        </p:spPr>
      </p:sp>
      <p:sp>
        <p:nvSpPr>
          <p:cNvPr id="7" name="Text 5"/>
          <p:cNvSpPr/>
          <p:nvPr/>
        </p:nvSpPr>
        <p:spPr>
          <a:xfrm>
            <a:off x="987552" y="2980944"/>
            <a:ext cx="4334256" cy="704088"/>
          </a:xfrm>
          <a:prstGeom prst="rect">
            <a:avLst/>
          </a:prstGeom>
          <a:noFill/>
          <a:ln/>
        </p:spPr>
        <p:txBody>
          <a:bodyPr wrap="square" lIns="254" tIns="254" rIns="254" bIns="254" rtlCol="0" anchor="ctr">
            <a:normAutofit/>
          </a:bodyPr>
          <a:lstStyle/>
          <a:p>
            <a:pPr indent="0" marL="0">
              <a:buNone/>
            </a:pPr>
            <a:r>
              <a:rPr lang="en-US" sz="1700" b="1" dirty="0">
                <a:solidFill>
                  <a:srgbClr val="111111"/>
                </a:solidFill>
              </a:rPr>
              <a:t>Om släppet går utanför referensen: Minor Visual / POFS.</a:t>
            </a:r>
            <a:endParaRPr lang="en-US" sz="1700" dirty="0"/>
          </a:p>
        </p:txBody>
      </p:sp>
      <p:sp>
        <p:nvSpPr>
          <p:cNvPr id="8" name="Shape 6"/>
          <p:cNvSpPr/>
          <p:nvPr/>
        </p:nvSpPr>
        <p:spPr>
          <a:xfrm>
            <a:off x="6172200" y="1207008"/>
            <a:ext cx="4937760" cy="4114800"/>
          </a:xfrm>
          <a:prstGeom prst="roundRect">
            <a:avLst>
              <a:gd name="adj" fmla="val 889"/>
            </a:avLst>
          </a:prstGeom>
          <a:solidFill>
            <a:srgbClr val="F5F7FA"/>
          </a:solidFill>
          <a:ln w="15240">
            <a:solidFill>
              <a:srgbClr val="D9DEE8"/>
            </a:solidFill>
            <a:prstDash val="solid"/>
          </a:ln>
        </p:spPr>
      </p:sp>
      <p:sp>
        <p:nvSpPr>
          <p:cNvPr id="9" name="Text 7"/>
          <p:cNvSpPr/>
          <p:nvPr/>
        </p:nvSpPr>
        <p:spPr>
          <a:xfrm>
            <a:off x="6263640" y="3118104"/>
            <a:ext cx="475488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bild: &gt;10% POFS</a:t>
            </a:r>
            <a:endParaRPr lang="en-US" sz="1400" dirty="0"/>
          </a:p>
        </p:txBody>
      </p:sp>
      <p:sp>
        <p:nvSpPr>
          <p:cNvPr id="10" name="Text 8"/>
          <p:cNvSpPr/>
          <p:nvPr/>
        </p:nvSpPr>
        <p:spPr>
          <a:xfrm>
            <a:off x="822960" y="4709160"/>
            <a:ext cx="5029200" cy="310896"/>
          </a:xfrm>
          <a:prstGeom prst="rect">
            <a:avLst/>
          </a:prstGeom>
          <a:noFill/>
          <a:ln/>
        </p:spPr>
        <p:txBody>
          <a:bodyPr wrap="square" lIns="0" tIns="0" rIns="0" bIns="0" rtlCol="0" anchor="ctr"/>
          <a:lstStyle/>
          <a:p>
            <a:pPr indent="0" marL="0">
              <a:buNone/>
            </a:pPr>
            <a:r>
              <a:rPr lang="en-US" sz="1550" b="1" dirty="0">
                <a:solidFill>
                  <a:srgbClr val="0B1F3A"/>
                </a:solidFill>
              </a:rPr>
              <a:t>Detta är fortsatt ett visuellt fel enligt D29447.</a:t>
            </a:r>
            <a:endParaRPr lang="en-US" sz="1550" dirty="0"/>
          </a:p>
        </p:txBody>
      </p:sp>
      <p:sp>
        <p:nvSpPr>
          <p:cNvPr id="11" name="Text 9"/>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2" name="Text 10"/>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Regel 3: Unsealed at multiple locations = Minor Visual / POFS</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Flera separata släpp ska inte behandlas som ett enskilt ≤10%-fall.</a:t>
            </a:r>
            <a:endParaRPr lang="en-US" sz="1150" dirty="0"/>
          </a:p>
        </p:txBody>
      </p:sp>
      <p:sp>
        <p:nvSpPr>
          <p:cNvPr id="4" name="Shape 2"/>
          <p:cNvSpPr/>
          <p:nvPr/>
        </p:nvSpPr>
        <p:spPr>
          <a:xfrm>
            <a:off x="731520" y="1298448"/>
            <a:ext cx="5669280" cy="960120"/>
          </a:xfrm>
          <a:prstGeom prst="roundRect">
            <a:avLst>
              <a:gd name="adj" fmla="val 11429"/>
            </a:avLst>
          </a:prstGeom>
          <a:solidFill>
            <a:srgbClr val="B71C1C"/>
          </a:solidFill>
          <a:ln w="12700">
            <a:solidFill>
              <a:srgbClr val="B71C1C">
                <a:alpha val="0"/>
              </a:srgbClr>
            </a:solidFill>
            <a:prstDash val="solid"/>
          </a:ln>
        </p:spPr>
      </p:sp>
      <p:sp>
        <p:nvSpPr>
          <p:cNvPr id="5" name="Text 3"/>
          <p:cNvSpPr/>
          <p:nvPr/>
        </p:nvSpPr>
        <p:spPr>
          <a:xfrm>
            <a:off x="841248" y="1408176"/>
            <a:ext cx="5449824" cy="740664"/>
          </a:xfrm>
          <a:prstGeom prst="rect">
            <a:avLst/>
          </a:prstGeom>
          <a:noFill/>
          <a:ln/>
        </p:spPr>
        <p:txBody>
          <a:bodyPr wrap="square" lIns="0" tIns="0" rIns="0" bIns="0" rtlCol="0" anchor="ctr"/>
          <a:lstStyle/>
          <a:p>
            <a:pPr algn="ctr" indent="0" marL="0">
              <a:buNone/>
            </a:pPr>
            <a:r>
              <a:rPr lang="en-US" sz="2700" b="1" dirty="0">
                <a:solidFill>
                  <a:srgbClr val="FFFFFF"/>
                </a:solidFill>
              </a:rPr>
              <a:t>Multiple gaps = Minor Visual</a:t>
            </a:r>
            <a:endParaRPr lang="en-US" sz="2700" dirty="0"/>
          </a:p>
        </p:txBody>
      </p:sp>
      <p:sp>
        <p:nvSpPr>
          <p:cNvPr id="6" name="Shape 4"/>
          <p:cNvSpPr/>
          <p:nvPr/>
        </p:nvSpPr>
        <p:spPr>
          <a:xfrm>
            <a:off x="822960" y="2578608"/>
            <a:ext cx="5394960" cy="1143000"/>
          </a:xfrm>
          <a:prstGeom prst="roundRect">
            <a:avLst>
              <a:gd name="adj" fmla="val 4800"/>
            </a:avLst>
          </a:prstGeom>
          <a:solidFill>
            <a:srgbClr val="FDEAEA"/>
          </a:solidFill>
          <a:ln w="12700">
            <a:solidFill>
              <a:srgbClr val="F2A2A2"/>
            </a:solidFill>
            <a:prstDash val="solid"/>
          </a:ln>
        </p:spPr>
      </p:sp>
      <p:sp>
        <p:nvSpPr>
          <p:cNvPr id="7" name="Text 5"/>
          <p:cNvSpPr/>
          <p:nvPr/>
        </p:nvSpPr>
        <p:spPr>
          <a:xfrm>
            <a:off x="987552" y="2706624"/>
            <a:ext cx="5065776" cy="886968"/>
          </a:xfrm>
          <a:prstGeom prst="rect">
            <a:avLst/>
          </a:prstGeom>
          <a:noFill/>
          <a:ln/>
        </p:spPr>
        <p:txBody>
          <a:bodyPr wrap="square" lIns="254" tIns="254" rIns="254" bIns="254" rtlCol="0" anchor="ctr">
            <a:normAutofit/>
          </a:bodyPr>
          <a:lstStyle/>
          <a:p>
            <a:pPr indent="0" marL="0">
              <a:buNone/>
            </a:pPr>
            <a:r>
              <a:rPr lang="en-US" sz="1700" b="1" dirty="0">
                <a:solidFill>
                  <a:srgbClr val="111111"/>
                </a:solidFill>
              </a:rPr>
              <a:t>Flera separata unsealed områden klassas som Minor Visual / POFS.</a:t>
            </a:r>
            <a:endParaRPr lang="en-US" sz="1700" dirty="0"/>
          </a:p>
        </p:txBody>
      </p:sp>
      <p:sp>
        <p:nvSpPr>
          <p:cNvPr id="8" name="Shape 6"/>
          <p:cNvSpPr/>
          <p:nvPr/>
        </p:nvSpPr>
        <p:spPr>
          <a:xfrm>
            <a:off x="822960" y="3977640"/>
            <a:ext cx="5394960" cy="822960"/>
          </a:xfrm>
          <a:prstGeom prst="roundRect">
            <a:avLst>
              <a:gd name="adj" fmla="val 6667"/>
            </a:avLst>
          </a:prstGeom>
          <a:solidFill>
            <a:srgbClr val="FFF6E2"/>
          </a:solidFill>
          <a:ln w="12700">
            <a:solidFill>
              <a:srgbClr val="F3D18A"/>
            </a:solidFill>
            <a:prstDash val="solid"/>
          </a:ln>
        </p:spPr>
      </p:sp>
      <p:sp>
        <p:nvSpPr>
          <p:cNvPr id="9" name="Text 7"/>
          <p:cNvSpPr/>
          <p:nvPr/>
        </p:nvSpPr>
        <p:spPr>
          <a:xfrm>
            <a:off x="987552" y="4105656"/>
            <a:ext cx="5065776" cy="566928"/>
          </a:xfrm>
          <a:prstGeom prst="rect">
            <a:avLst/>
          </a:prstGeom>
          <a:noFill/>
          <a:ln/>
        </p:spPr>
        <p:txBody>
          <a:bodyPr wrap="square" lIns="254" tIns="254" rIns="254" bIns="254" rtlCol="0" anchor="ctr">
            <a:normAutofit/>
          </a:bodyPr>
          <a:lstStyle/>
          <a:p>
            <a:pPr indent="0" marL="0">
              <a:buNone/>
            </a:pPr>
            <a:r>
              <a:rPr lang="en-US" sz="1600" b="1" dirty="0">
                <a:solidFill>
                  <a:srgbClr val="111111"/>
                </a:solidFill>
              </a:rPr>
              <a:t>Poängen: skapa inte egen summeringslogik i skiftet.</a:t>
            </a:r>
            <a:endParaRPr lang="en-US" sz="1600" dirty="0"/>
          </a:p>
        </p:txBody>
      </p:sp>
      <p:sp>
        <p:nvSpPr>
          <p:cNvPr id="10" name="Shape 8"/>
          <p:cNvSpPr/>
          <p:nvPr/>
        </p:nvSpPr>
        <p:spPr>
          <a:xfrm>
            <a:off x="6629400" y="1143000"/>
            <a:ext cx="4480560" cy="4389120"/>
          </a:xfrm>
          <a:prstGeom prst="roundRect">
            <a:avLst>
              <a:gd name="adj" fmla="val 833"/>
            </a:avLst>
          </a:prstGeom>
          <a:solidFill>
            <a:srgbClr val="F5F7FA"/>
          </a:solidFill>
          <a:ln w="15240">
            <a:solidFill>
              <a:srgbClr val="D9DEE8"/>
            </a:solidFill>
            <a:prstDash val="solid"/>
          </a:ln>
        </p:spPr>
      </p:sp>
      <p:sp>
        <p:nvSpPr>
          <p:cNvPr id="11" name="Text 9"/>
          <p:cNvSpPr/>
          <p:nvPr/>
        </p:nvSpPr>
        <p:spPr>
          <a:xfrm>
            <a:off x="6720840" y="3191256"/>
            <a:ext cx="429768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bild: multiple gaps</a:t>
            </a:r>
            <a:endParaRPr lang="en-US" sz="1400" dirty="0"/>
          </a:p>
        </p:txBody>
      </p:sp>
      <p:sp>
        <p:nvSpPr>
          <p:cNvPr id="12" name="Text 10"/>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3" name="Text 11"/>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Spray-like / non-uniform film seal</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Spray-liknande eller non-uniform yta räknas som unsealed area i bedömningen.</a:t>
            </a:r>
            <a:endParaRPr lang="en-US" sz="1150" dirty="0"/>
          </a:p>
        </p:txBody>
      </p:sp>
      <p:sp>
        <p:nvSpPr>
          <p:cNvPr id="4" name="Shape 2"/>
          <p:cNvSpPr/>
          <p:nvPr/>
        </p:nvSpPr>
        <p:spPr>
          <a:xfrm>
            <a:off x="685800" y="1353312"/>
            <a:ext cx="3383280" cy="1097280"/>
          </a:xfrm>
          <a:prstGeom prst="roundRect">
            <a:avLst>
              <a:gd name="adj" fmla="val 5000"/>
            </a:avLst>
          </a:prstGeom>
          <a:solidFill>
            <a:srgbClr val="EAF2FF"/>
          </a:solidFill>
          <a:ln w="12700">
            <a:solidFill>
              <a:srgbClr val="B9CFF7"/>
            </a:solidFill>
            <a:prstDash val="solid"/>
          </a:ln>
        </p:spPr>
      </p:sp>
      <p:sp>
        <p:nvSpPr>
          <p:cNvPr id="5" name="Text 3"/>
          <p:cNvSpPr/>
          <p:nvPr/>
        </p:nvSpPr>
        <p:spPr>
          <a:xfrm>
            <a:off x="850392" y="1481328"/>
            <a:ext cx="3054096" cy="841248"/>
          </a:xfrm>
          <a:prstGeom prst="rect">
            <a:avLst/>
          </a:prstGeom>
          <a:noFill/>
          <a:ln/>
        </p:spPr>
        <p:txBody>
          <a:bodyPr wrap="square" lIns="254" tIns="254" rIns="254" bIns="254" rtlCol="0" anchor="ctr">
            <a:normAutofit/>
          </a:bodyPr>
          <a:lstStyle/>
          <a:p>
            <a:pPr indent="0" marL="0">
              <a:buNone/>
            </a:pPr>
            <a:r>
              <a:rPr lang="en-US" sz="1800" b="1" dirty="0">
                <a:solidFill>
                  <a:srgbClr val="111111"/>
                </a:solidFill>
              </a:rPr>
              <a:t>Ett sammanhängande område?</a:t>
            </a:r>
            <a:endParaRPr lang="en-US" sz="1800" dirty="0"/>
          </a:p>
        </p:txBody>
      </p:sp>
      <p:sp>
        <p:nvSpPr>
          <p:cNvPr id="6" name="Text 4"/>
          <p:cNvSpPr/>
          <p:nvPr/>
        </p:nvSpPr>
        <p:spPr>
          <a:xfrm>
            <a:off x="868680" y="2651760"/>
            <a:ext cx="3383280" cy="274320"/>
          </a:xfrm>
          <a:prstGeom prst="rect">
            <a:avLst/>
          </a:prstGeom>
          <a:noFill/>
          <a:ln/>
        </p:spPr>
        <p:txBody>
          <a:bodyPr wrap="square" lIns="0" tIns="0" rIns="0" bIns="0" rtlCol="0" anchor="ctr"/>
          <a:lstStyle/>
          <a:p>
            <a:pPr indent="0" marL="0">
              <a:buNone/>
            </a:pPr>
            <a:r>
              <a:rPr lang="en-US" sz="1600" b="1" dirty="0">
                <a:solidFill>
                  <a:srgbClr val="0B1F3A"/>
                </a:solidFill>
              </a:rPr>
              <a:t>→ jämför mot 10%-referensen</a:t>
            </a:r>
            <a:endParaRPr lang="en-US" sz="1600" dirty="0"/>
          </a:p>
        </p:txBody>
      </p:sp>
      <p:sp>
        <p:nvSpPr>
          <p:cNvPr id="7" name="Shape 5"/>
          <p:cNvSpPr/>
          <p:nvPr/>
        </p:nvSpPr>
        <p:spPr>
          <a:xfrm>
            <a:off x="4434840" y="1353312"/>
            <a:ext cx="3383280" cy="1097280"/>
          </a:xfrm>
          <a:prstGeom prst="roundRect">
            <a:avLst>
              <a:gd name="adj" fmla="val 5000"/>
            </a:avLst>
          </a:prstGeom>
          <a:solidFill>
            <a:srgbClr val="FDEAEA"/>
          </a:solidFill>
          <a:ln w="12700">
            <a:solidFill>
              <a:srgbClr val="F2A2A2"/>
            </a:solidFill>
            <a:prstDash val="solid"/>
          </a:ln>
        </p:spPr>
      </p:sp>
      <p:sp>
        <p:nvSpPr>
          <p:cNvPr id="8" name="Text 6"/>
          <p:cNvSpPr/>
          <p:nvPr/>
        </p:nvSpPr>
        <p:spPr>
          <a:xfrm>
            <a:off x="4599432" y="1481328"/>
            <a:ext cx="3054096" cy="841248"/>
          </a:xfrm>
          <a:prstGeom prst="rect">
            <a:avLst/>
          </a:prstGeom>
          <a:noFill/>
          <a:ln/>
        </p:spPr>
        <p:txBody>
          <a:bodyPr wrap="square" lIns="254" tIns="254" rIns="254" bIns="254" rtlCol="0" anchor="ctr">
            <a:normAutofit/>
          </a:bodyPr>
          <a:lstStyle/>
          <a:p>
            <a:pPr indent="0" marL="0">
              <a:buNone/>
            </a:pPr>
            <a:r>
              <a:rPr lang="en-US" sz="1800" b="1" dirty="0">
                <a:solidFill>
                  <a:srgbClr val="111111"/>
                </a:solidFill>
              </a:rPr>
              <a:t>Flera separata områden?</a:t>
            </a:r>
            <a:endParaRPr lang="en-US" sz="1800" dirty="0"/>
          </a:p>
        </p:txBody>
      </p:sp>
      <p:sp>
        <p:nvSpPr>
          <p:cNvPr id="9" name="Text 7"/>
          <p:cNvSpPr/>
          <p:nvPr/>
        </p:nvSpPr>
        <p:spPr>
          <a:xfrm>
            <a:off x="4617720" y="2651760"/>
            <a:ext cx="3383280" cy="274320"/>
          </a:xfrm>
          <a:prstGeom prst="rect">
            <a:avLst/>
          </a:prstGeom>
          <a:noFill/>
          <a:ln/>
        </p:spPr>
        <p:txBody>
          <a:bodyPr wrap="square" lIns="0" tIns="0" rIns="0" bIns="0" rtlCol="0" anchor="ctr"/>
          <a:lstStyle/>
          <a:p>
            <a:pPr indent="0" marL="0">
              <a:buNone/>
            </a:pPr>
            <a:r>
              <a:rPr lang="en-US" sz="1600" b="1" dirty="0">
                <a:solidFill>
                  <a:srgbClr val="B71C1C"/>
                </a:solidFill>
              </a:rPr>
              <a:t>→ Minor Visual / POFS</a:t>
            </a:r>
            <a:endParaRPr lang="en-US" sz="1600" dirty="0"/>
          </a:p>
        </p:txBody>
      </p:sp>
      <p:sp>
        <p:nvSpPr>
          <p:cNvPr id="10" name="Shape 8"/>
          <p:cNvSpPr/>
          <p:nvPr/>
        </p:nvSpPr>
        <p:spPr>
          <a:xfrm>
            <a:off x="8183880" y="1353312"/>
            <a:ext cx="3154680" cy="1097280"/>
          </a:xfrm>
          <a:prstGeom prst="roundRect">
            <a:avLst>
              <a:gd name="adj" fmla="val 5000"/>
            </a:avLst>
          </a:prstGeom>
          <a:solidFill>
            <a:srgbClr val="E9F6EC"/>
          </a:solidFill>
          <a:ln w="12700">
            <a:solidFill>
              <a:srgbClr val="A5D6A7"/>
            </a:solidFill>
            <a:prstDash val="solid"/>
          </a:ln>
        </p:spPr>
      </p:sp>
      <p:sp>
        <p:nvSpPr>
          <p:cNvPr id="11" name="Text 9"/>
          <p:cNvSpPr/>
          <p:nvPr/>
        </p:nvSpPr>
        <p:spPr>
          <a:xfrm>
            <a:off x="8348472" y="1481328"/>
            <a:ext cx="2825496" cy="841248"/>
          </a:xfrm>
          <a:prstGeom prst="rect">
            <a:avLst/>
          </a:prstGeom>
          <a:noFill/>
          <a:ln/>
        </p:spPr>
        <p:txBody>
          <a:bodyPr wrap="square" lIns="254" tIns="254" rIns="254" bIns="254" rtlCol="0" anchor="ctr">
            <a:normAutofit/>
          </a:bodyPr>
          <a:lstStyle/>
          <a:p>
            <a:pPr indent="0" marL="0">
              <a:buNone/>
            </a:pPr>
            <a:r>
              <a:rPr lang="en-US" sz="1800" b="1" dirty="0">
                <a:solidFill>
                  <a:srgbClr val="111111"/>
                </a:solidFill>
              </a:rPr>
              <a:t>Gränsfall?</a:t>
            </a:r>
            <a:endParaRPr lang="en-US" sz="1800" dirty="0"/>
          </a:p>
        </p:txBody>
      </p:sp>
      <p:sp>
        <p:nvSpPr>
          <p:cNvPr id="12" name="Text 10"/>
          <p:cNvSpPr/>
          <p:nvPr/>
        </p:nvSpPr>
        <p:spPr>
          <a:xfrm>
            <a:off x="8366760" y="2651760"/>
            <a:ext cx="2926080" cy="274320"/>
          </a:xfrm>
          <a:prstGeom prst="rect">
            <a:avLst/>
          </a:prstGeom>
          <a:noFill/>
          <a:ln/>
        </p:spPr>
        <p:txBody>
          <a:bodyPr wrap="square" lIns="0" tIns="0" rIns="0" bIns="0" rtlCol="0" anchor="ctr"/>
          <a:lstStyle/>
          <a:p>
            <a:pPr indent="0" marL="0">
              <a:buNone/>
            </a:pPr>
            <a:r>
              <a:rPr lang="en-US" sz="1600" b="1" dirty="0">
                <a:solidFill>
                  <a:srgbClr val="2E7D32"/>
                </a:solidFill>
              </a:rPr>
              <a:t>→ använd overlay + stöd</a:t>
            </a:r>
            <a:endParaRPr lang="en-US" sz="1600" dirty="0"/>
          </a:p>
        </p:txBody>
      </p:sp>
      <p:sp>
        <p:nvSpPr>
          <p:cNvPr id="13" name="Shape 11"/>
          <p:cNvSpPr/>
          <p:nvPr/>
        </p:nvSpPr>
        <p:spPr>
          <a:xfrm>
            <a:off x="914400" y="3749040"/>
            <a:ext cx="3200400" cy="1463040"/>
          </a:xfrm>
          <a:prstGeom prst="roundRect">
            <a:avLst>
              <a:gd name="adj" fmla="val 2500"/>
            </a:avLst>
          </a:prstGeom>
          <a:solidFill>
            <a:srgbClr val="F5F7FA"/>
          </a:solidFill>
          <a:ln w="15240">
            <a:solidFill>
              <a:srgbClr val="D9DEE8"/>
            </a:solidFill>
            <a:prstDash val="solid"/>
          </a:ln>
        </p:spPr>
      </p:sp>
      <p:sp>
        <p:nvSpPr>
          <p:cNvPr id="14" name="Text 12"/>
          <p:cNvSpPr/>
          <p:nvPr/>
        </p:nvSpPr>
        <p:spPr>
          <a:xfrm>
            <a:off x="1005840" y="4334256"/>
            <a:ext cx="301752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exempel: spray single area</a:t>
            </a:r>
            <a:endParaRPr lang="en-US" sz="1400" dirty="0"/>
          </a:p>
        </p:txBody>
      </p:sp>
      <p:sp>
        <p:nvSpPr>
          <p:cNvPr id="15" name="Shape 13"/>
          <p:cNvSpPr/>
          <p:nvPr/>
        </p:nvSpPr>
        <p:spPr>
          <a:xfrm>
            <a:off x="4572000" y="3749040"/>
            <a:ext cx="3200400" cy="1463040"/>
          </a:xfrm>
          <a:prstGeom prst="roundRect">
            <a:avLst>
              <a:gd name="adj" fmla="val 2500"/>
            </a:avLst>
          </a:prstGeom>
          <a:solidFill>
            <a:srgbClr val="F5F7FA"/>
          </a:solidFill>
          <a:ln w="15240">
            <a:solidFill>
              <a:srgbClr val="D9DEE8"/>
            </a:solidFill>
            <a:prstDash val="solid"/>
          </a:ln>
        </p:spPr>
      </p:sp>
      <p:sp>
        <p:nvSpPr>
          <p:cNvPr id="16" name="Text 14"/>
          <p:cNvSpPr/>
          <p:nvPr/>
        </p:nvSpPr>
        <p:spPr>
          <a:xfrm>
            <a:off x="4663440" y="4334256"/>
            <a:ext cx="301752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exempel: spray multiple</a:t>
            </a:r>
            <a:endParaRPr lang="en-US" sz="1400" dirty="0"/>
          </a:p>
        </p:txBody>
      </p:sp>
      <p:sp>
        <p:nvSpPr>
          <p:cNvPr id="17" name="Shape 15"/>
          <p:cNvSpPr/>
          <p:nvPr/>
        </p:nvSpPr>
        <p:spPr>
          <a:xfrm>
            <a:off x="8229600" y="3749040"/>
            <a:ext cx="2926080" cy="1463040"/>
          </a:xfrm>
          <a:prstGeom prst="roundRect">
            <a:avLst>
              <a:gd name="adj" fmla="val 2500"/>
            </a:avLst>
          </a:prstGeom>
          <a:solidFill>
            <a:srgbClr val="F5F7FA"/>
          </a:solidFill>
          <a:ln w="15240">
            <a:solidFill>
              <a:srgbClr val="D9DEE8"/>
            </a:solidFill>
            <a:prstDash val="solid"/>
          </a:ln>
        </p:spPr>
      </p:sp>
      <p:sp>
        <p:nvSpPr>
          <p:cNvPr id="18" name="Text 16"/>
          <p:cNvSpPr/>
          <p:nvPr/>
        </p:nvSpPr>
        <p:spPr>
          <a:xfrm>
            <a:off x="8321040" y="4334256"/>
            <a:ext cx="274320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exempel: borderline</a:t>
            </a:r>
            <a:endParaRPr lang="en-US" sz="1400" dirty="0"/>
          </a:p>
        </p:txBody>
      </p:sp>
      <p:sp>
        <p:nvSpPr>
          <p:cNvPr id="19" name="Text 17"/>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20" name="Text 18"/>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Overlay-verktyget</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Ett visuellt hjälpmedel för att minska variation vid gränsfall.</a:t>
            </a:r>
            <a:endParaRPr lang="en-US" sz="1150" dirty="0"/>
          </a:p>
        </p:txBody>
      </p:sp>
      <p:sp>
        <p:nvSpPr>
          <p:cNvPr id="4" name="Shape 2"/>
          <p:cNvSpPr/>
          <p:nvPr/>
        </p:nvSpPr>
        <p:spPr>
          <a:xfrm>
            <a:off x="685800" y="1325880"/>
            <a:ext cx="3337560" cy="960120"/>
          </a:xfrm>
          <a:prstGeom prst="roundRect">
            <a:avLst>
              <a:gd name="adj" fmla="val 5714"/>
            </a:avLst>
          </a:prstGeom>
          <a:solidFill>
            <a:srgbClr val="EAF2FF"/>
          </a:solidFill>
          <a:ln w="12700">
            <a:solidFill>
              <a:srgbClr val="B9CFF7"/>
            </a:solidFill>
            <a:prstDash val="solid"/>
          </a:ln>
        </p:spPr>
      </p:sp>
      <p:sp>
        <p:nvSpPr>
          <p:cNvPr id="5" name="Text 3"/>
          <p:cNvSpPr/>
          <p:nvPr/>
        </p:nvSpPr>
        <p:spPr>
          <a:xfrm>
            <a:off x="850392" y="1453896"/>
            <a:ext cx="3008376" cy="704088"/>
          </a:xfrm>
          <a:prstGeom prst="rect">
            <a:avLst/>
          </a:prstGeom>
          <a:noFill/>
          <a:ln/>
        </p:spPr>
        <p:txBody>
          <a:bodyPr wrap="square" lIns="254" tIns="254" rIns="254" bIns="254" rtlCol="0" anchor="ctr">
            <a:normAutofit/>
          </a:bodyPr>
          <a:lstStyle/>
          <a:p>
            <a:pPr indent="0" marL="0">
              <a:buNone/>
            </a:pPr>
            <a:r>
              <a:rPr lang="en-US" sz="1550" b="1" dirty="0">
                <a:solidFill>
                  <a:srgbClr val="111111"/>
                </a:solidFill>
              </a:rPr>
              <a:t>1. Placera verktyget på cartridge-lid</a:t>
            </a:r>
            <a:endParaRPr lang="en-US" sz="1550" dirty="0"/>
          </a:p>
        </p:txBody>
      </p:sp>
      <p:sp>
        <p:nvSpPr>
          <p:cNvPr id="6" name="Shape 4"/>
          <p:cNvSpPr/>
          <p:nvPr/>
        </p:nvSpPr>
        <p:spPr>
          <a:xfrm>
            <a:off x="685800" y="2514600"/>
            <a:ext cx="3337560" cy="960120"/>
          </a:xfrm>
          <a:prstGeom prst="roundRect">
            <a:avLst>
              <a:gd name="adj" fmla="val 5714"/>
            </a:avLst>
          </a:prstGeom>
          <a:solidFill>
            <a:srgbClr val="EAF2FF"/>
          </a:solidFill>
          <a:ln w="12700">
            <a:solidFill>
              <a:srgbClr val="B9CFF7"/>
            </a:solidFill>
            <a:prstDash val="solid"/>
          </a:ln>
        </p:spPr>
      </p:sp>
      <p:sp>
        <p:nvSpPr>
          <p:cNvPr id="7" name="Text 5"/>
          <p:cNvSpPr/>
          <p:nvPr/>
        </p:nvSpPr>
        <p:spPr>
          <a:xfrm>
            <a:off x="850392" y="2642616"/>
            <a:ext cx="3008376" cy="704088"/>
          </a:xfrm>
          <a:prstGeom prst="rect">
            <a:avLst/>
          </a:prstGeom>
          <a:noFill/>
          <a:ln/>
        </p:spPr>
        <p:txBody>
          <a:bodyPr wrap="square" lIns="254" tIns="254" rIns="254" bIns="254" rtlCol="0" anchor="ctr">
            <a:normAutofit/>
          </a:bodyPr>
          <a:lstStyle/>
          <a:p>
            <a:pPr indent="0" marL="0">
              <a:buNone/>
            </a:pPr>
            <a:r>
              <a:rPr lang="en-US" sz="1550" b="1" dirty="0">
                <a:solidFill>
                  <a:srgbClr val="111111"/>
                </a:solidFill>
              </a:rPr>
              <a:t>2. Linjera markeringarna mot outer film seal</a:t>
            </a:r>
            <a:endParaRPr lang="en-US" sz="1550" dirty="0"/>
          </a:p>
        </p:txBody>
      </p:sp>
      <p:sp>
        <p:nvSpPr>
          <p:cNvPr id="8" name="Shape 6"/>
          <p:cNvSpPr/>
          <p:nvPr/>
        </p:nvSpPr>
        <p:spPr>
          <a:xfrm>
            <a:off x="685800" y="3703320"/>
            <a:ext cx="3337560" cy="960120"/>
          </a:xfrm>
          <a:prstGeom prst="roundRect">
            <a:avLst>
              <a:gd name="adj" fmla="val 5714"/>
            </a:avLst>
          </a:prstGeom>
          <a:solidFill>
            <a:srgbClr val="EAF2FF"/>
          </a:solidFill>
          <a:ln w="12700">
            <a:solidFill>
              <a:srgbClr val="B9CFF7"/>
            </a:solidFill>
            <a:prstDash val="solid"/>
          </a:ln>
        </p:spPr>
      </p:sp>
      <p:sp>
        <p:nvSpPr>
          <p:cNvPr id="9" name="Text 7"/>
          <p:cNvSpPr/>
          <p:nvPr/>
        </p:nvSpPr>
        <p:spPr>
          <a:xfrm>
            <a:off x="850392" y="3831336"/>
            <a:ext cx="3008376" cy="704088"/>
          </a:xfrm>
          <a:prstGeom prst="rect">
            <a:avLst/>
          </a:prstGeom>
          <a:noFill/>
          <a:ln/>
        </p:spPr>
        <p:txBody>
          <a:bodyPr wrap="square" lIns="254" tIns="254" rIns="254" bIns="254" rtlCol="0" anchor="ctr">
            <a:normAutofit/>
          </a:bodyPr>
          <a:lstStyle/>
          <a:p>
            <a:pPr indent="0" marL="0">
              <a:buNone/>
            </a:pPr>
            <a:r>
              <a:rPr lang="en-US" sz="1550" b="1" dirty="0">
                <a:solidFill>
                  <a:srgbClr val="111111"/>
                </a:solidFill>
              </a:rPr>
              <a:t>3. Jämför släppet mot referensen</a:t>
            </a:r>
            <a:endParaRPr lang="en-US" sz="1550" dirty="0"/>
          </a:p>
        </p:txBody>
      </p:sp>
      <p:sp>
        <p:nvSpPr>
          <p:cNvPr id="10" name="Shape 8"/>
          <p:cNvSpPr/>
          <p:nvPr/>
        </p:nvSpPr>
        <p:spPr>
          <a:xfrm>
            <a:off x="4663440" y="1143000"/>
            <a:ext cx="2926080" cy="3886200"/>
          </a:xfrm>
          <a:prstGeom prst="roundRect">
            <a:avLst>
              <a:gd name="adj" fmla="val 1250"/>
            </a:avLst>
          </a:prstGeom>
          <a:solidFill>
            <a:srgbClr val="F5F7FA"/>
          </a:solidFill>
          <a:ln w="15240">
            <a:solidFill>
              <a:srgbClr val="D9DEE8"/>
            </a:solidFill>
            <a:prstDash val="solid"/>
          </a:ln>
        </p:spPr>
      </p:sp>
      <p:sp>
        <p:nvSpPr>
          <p:cNvPr id="11" name="Text 9"/>
          <p:cNvSpPr/>
          <p:nvPr/>
        </p:nvSpPr>
        <p:spPr>
          <a:xfrm>
            <a:off x="4754880" y="2939796"/>
            <a:ext cx="274320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Infoga bild: verktyget på lock</a:t>
            </a:r>
            <a:endParaRPr lang="en-US" sz="1400" dirty="0"/>
          </a:p>
        </p:txBody>
      </p:sp>
      <p:sp>
        <p:nvSpPr>
          <p:cNvPr id="12" name="Text 10"/>
          <p:cNvSpPr/>
          <p:nvPr/>
        </p:nvSpPr>
        <p:spPr>
          <a:xfrm>
            <a:off x="8275320" y="1417320"/>
            <a:ext cx="2743200" cy="237744"/>
          </a:xfrm>
          <a:prstGeom prst="rect">
            <a:avLst/>
          </a:prstGeom>
          <a:noFill/>
          <a:ln/>
        </p:spPr>
        <p:txBody>
          <a:bodyPr wrap="square" lIns="0" tIns="0" rIns="0" bIns="0" rtlCol="0" anchor="ctr"/>
          <a:lstStyle/>
          <a:p>
            <a:pPr indent="0" marL="0">
              <a:buNone/>
            </a:pPr>
            <a:r>
              <a:rPr lang="en-US" sz="1500" b="1" dirty="0">
                <a:solidFill>
                  <a:srgbClr val="2E7D32"/>
                </a:solidFill>
              </a:rPr>
              <a:t>Overlayn är:</a:t>
            </a:r>
            <a:endParaRPr lang="en-US" sz="1500" dirty="0"/>
          </a:p>
        </p:txBody>
      </p:sp>
      <p:sp>
        <p:nvSpPr>
          <p:cNvPr id="13" name="Text 11"/>
          <p:cNvSpPr/>
          <p:nvPr/>
        </p:nvSpPr>
        <p:spPr>
          <a:xfrm>
            <a:off x="8275320" y="1783080"/>
            <a:ext cx="3200400" cy="914400"/>
          </a:xfrm>
          <a:prstGeom prst="rect">
            <a:avLst/>
          </a:prstGeom>
          <a:noFill/>
          <a:ln/>
        </p:spPr>
        <p:txBody>
          <a:bodyPr wrap="square" lIns="0" tIns="0" rIns="0" bIns="0" rtlCol="0" anchor="ctr">
            <a:normAutofit/>
          </a:bodyPr>
          <a:lstStyle/>
          <a:p>
            <a:pPr indent="0" marL="0">
              <a:buNone/>
            </a:pPr>
            <a:r>
              <a:rPr lang="en-US" sz="1450" dirty="0">
                <a:solidFill>
                  <a:srgbClr val="111111"/>
                </a:solidFill>
              </a:rPr>
              <a:t>• stöd vid gränsfall</a:t>
            </a:r>
            <a:endParaRPr lang="en-US" sz="1450" dirty="0"/>
          </a:p>
          <a:p>
            <a:pPr indent="0" marL="0">
              <a:buNone/>
            </a:pPr>
            <a:r>
              <a:rPr lang="en-US" sz="1450" dirty="0">
                <a:solidFill>
                  <a:srgbClr val="111111"/>
                </a:solidFill>
              </a:rPr>
              <a:t>• visuell referens</a:t>
            </a:r>
            <a:endParaRPr lang="en-US" sz="1450" dirty="0"/>
          </a:p>
          <a:p>
            <a:pPr indent="0" marL="0">
              <a:buNone/>
            </a:pPr>
            <a:r>
              <a:rPr lang="en-US" sz="1450" dirty="0">
                <a:solidFill>
                  <a:srgbClr val="111111"/>
                </a:solidFill>
              </a:rPr>
              <a:t>• hjälp för samma bedömning</a:t>
            </a:r>
            <a:endParaRPr lang="en-US" sz="1450" dirty="0"/>
          </a:p>
        </p:txBody>
      </p:sp>
      <p:sp>
        <p:nvSpPr>
          <p:cNvPr id="14" name="Text 12"/>
          <p:cNvSpPr/>
          <p:nvPr/>
        </p:nvSpPr>
        <p:spPr>
          <a:xfrm>
            <a:off x="8275320" y="3063240"/>
            <a:ext cx="2743200" cy="237744"/>
          </a:xfrm>
          <a:prstGeom prst="rect">
            <a:avLst/>
          </a:prstGeom>
          <a:noFill/>
          <a:ln/>
        </p:spPr>
        <p:txBody>
          <a:bodyPr wrap="square" lIns="0" tIns="0" rIns="0" bIns="0" rtlCol="0" anchor="ctr"/>
          <a:lstStyle/>
          <a:p>
            <a:pPr indent="0" marL="0">
              <a:buNone/>
            </a:pPr>
            <a:r>
              <a:rPr lang="en-US" sz="1500" b="1" dirty="0">
                <a:solidFill>
                  <a:srgbClr val="B71C1C"/>
                </a:solidFill>
              </a:rPr>
              <a:t>Overlayn är inte:</a:t>
            </a:r>
            <a:endParaRPr lang="en-US" sz="1500" dirty="0"/>
          </a:p>
        </p:txBody>
      </p:sp>
      <p:sp>
        <p:nvSpPr>
          <p:cNvPr id="15" name="Text 13"/>
          <p:cNvSpPr/>
          <p:nvPr/>
        </p:nvSpPr>
        <p:spPr>
          <a:xfrm>
            <a:off x="8275320" y="3429000"/>
            <a:ext cx="3200400" cy="914400"/>
          </a:xfrm>
          <a:prstGeom prst="rect">
            <a:avLst/>
          </a:prstGeom>
          <a:noFill/>
          <a:ln/>
        </p:spPr>
        <p:txBody>
          <a:bodyPr wrap="square" lIns="0" tIns="0" rIns="0" bIns="0" rtlCol="0" anchor="ctr">
            <a:normAutofit/>
          </a:bodyPr>
          <a:lstStyle/>
          <a:p>
            <a:pPr indent="0" marL="0">
              <a:buNone/>
            </a:pPr>
            <a:r>
              <a:rPr lang="en-US" sz="1450" dirty="0">
                <a:solidFill>
                  <a:srgbClr val="111111"/>
                </a:solidFill>
              </a:rPr>
              <a:t>• mikroskop</a:t>
            </a:r>
            <a:endParaRPr lang="en-US" sz="1450" dirty="0"/>
          </a:p>
          <a:p>
            <a:pPr indent="0" marL="0">
              <a:buNone/>
            </a:pPr>
            <a:r>
              <a:rPr lang="en-US" sz="1450" dirty="0">
                <a:solidFill>
                  <a:srgbClr val="111111"/>
                </a:solidFill>
              </a:rPr>
              <a:t>• exakt labbmätning</a:t>
            </a:r>
            <a:endParaRPr lang="en-US" sz="1450" dirty="0"/>
          </a:p>
          <a:p>
            <a:pPr indent="0" marL="0">
              <a:buNone/>
            </a:pPr>
            <a:r>
              <a:rPr lang="en-US" sz="1450" dirty="0">
                <a:solidFill>
                  <a:srgbClr val="111111"/>
                </a:solidFill>
              </a:rPr>
              <a:t>• engineering review</a:t>
            </a:r>
            <a:endParaRPr lang="en-US" sz="1450" dirty="0"/>
          </a:p>
        </p:txBody>
      </p:sp>
      <p:sp>
        <p:nvSpPr>
          <p:cNvPr id="16" name="Text 14"/>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7" name="Text 15"/>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Utdrag från nuvarande D29447</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D29447 innehåller redan visuella bedömningskriterier.</a:t>
            </a:r>
            <a:endParaRPr lang="en-US" sz="1150" dirty="0"/>
          </a:p>
        </p:txBody>
      </p:sp>
      <p:sp>
        <p:nvSpPr>
          <p:cNvPr id="4" name="Shape 2"/>
          <p:cNvSpPr/>
          <p:nvPr/>
        </p:nvSpPr>
        <p:spPr>
          <a:xfrm>
            <a:off x="1143000" y="1298448"/>
            <a:ext cx="9875520" cy="749808"/>
          </a:xfrm>
          <a:prstGeom prst="roundRect">
            <a:avLst>
              <a:gd name="adj" fmla="val 4878"/>
            </a:avLst>
          </a:prstGeom>
          <a:solidFill>
            <a:srgbClr val="FBFCFE"/>
          </a:solidFill>
          <a:ln w="10160">
            <a:solidFill>
              <a:srgbClr val="D9DEE8"/>
            </a:solidFill>
            <a:prstDash val="solid"/>
          </a:ln>
        </p:spPr>
      </p:sp>
      <p:sp>
        <p:nvSpPr>
          <p:cNvPr id="5" name="Text 3"/>
          <p:cNvSpPr/>
          <p:nvPr/>
        </p:nvSpPr>
        <p:spPr>
          <a:xfrm>
            <a:off x="1417320" y="1463040"/>
            <a:ext cx="9326880" cy="320040"/>
          </a:xfrm>
          <a:prstGeom prst="rect">
            <a:avLst/>
          </a:prstGeom>
          <a:noFill/>
          <a:ln/>
        </p:spPr>
        <p:txBody>
          <a:bodyPr wrap="square" lIns="0" tIns="0" rIns="0" bIns="0" rtlCol="0" anchor="ctr"/>
          <a:lstStyle/>
          <a:p>
            <a:pPr algn="ctr" indent="0" marL="0">
              <a:buNone/>
            </a:pPr>
            <a:r>
              <a:rPr lang="en-US" sz="2000" b="1" dirty="0">
                <a:solidFill>
                  <a:srgbClr val="0B1F3A"/>
                </a:solidFill>
              </a:rPr>
              <a:t>“Moderate crystallization observed.”</a:t>
            </a:r>
            <a:endParaRPr lang="en-US" sz="2000" dirty="0"/>
          </a:p>
        </p:txBody>
      </p:sp>
      <p:sp>
        <p:nvSpPr>
          <p:cNvPr id="6" name="Shape 4"/>
          <p:cNvSpPr/>
          <p:nvPr/>
        </p:nvSpPr>
        <p:spPr>
          <a:xfrm>
            <a:off x="1143000" y="2359152"/>
            <a:ext cx="9875520" cy="749808"/>
          </a:xfrm>
          <a:prstGeom prst="roundRect">
            <a:avLst>
              <a:gd name="adj" fmla="val 4878"/>
            </a:avLst>
          </a:prstGeom>
          <a:solidFill>
            <a:srgbClr val="FBFCFE"/>
          </a:solidFill>
          <a:ln w="10160">
            <a:solidFill>
              <a:srgbClr val="D9DEE8"/>
            </a:solidFill>
            <a:prstDash val="solid"/>
          </a:ln>
        </p:spPr>
      </p:sp>
      <p:sp>
        <p:nvSpPr>
          <p:cNvPr id="7" name="Text 5"/>
          <p:cNvSpPr/>
          <p:nvPr/>
        </p:nvSpPr>
        <p:spPr>
          <a:xfrm>
            <a:off x="1417320" y="2523744"/>
            <a:ext cx="9326880" cy="320040"/>
          </a:xfrm>
          <a:prstGeom prst="rect">
            <a:avLst/>
          </a:prstGeom>
          <a:noFill/>
          <a:ln/>
        </p:spPr>
        <p:txBody>
          <a:bodyPr wrap="square" lIns="0" tIns="0" rIns="0" bIns="0" rtlCol="0" anchor="ctr"/>
          <a:lstStyle/>
          <a:p>
            <a:pPr algn="ctr" indent="0" marL="0">
              <a:buNone/>
            </a:pPr>
            <a:r>
              <a:rPr lang="en-US" sz="2000" b="1" dirty="0">
                <a:solidFill>
                  <a:srgbClr val="0B1F3A"/>
                </a:solidFill>
              </a:rPr>
              <a:t>“Crystallization on more than 5% of lid surface”</a:t>
            </a:r>
            <a:endParaRPr lang="en-US" sz="2000" dirty="0"/>
          </a:p>
        </p:txBody>
      </p:sp>
      <p:sp>
        <p:nvSpPr>
          <p:cNvPr id="8" name="Shape 6"/>
          <p:cNvSpPr/>
          <p:nvPr/>
        </p:nvSpPr>
        <p:spPr>
          <a:xfrm>
            <a:off x="1143000" y="3419856"/>
            <a:ext cx="9875520" cy="749808"/>
          </a:xfrm>
          <a:prstGeom prst="roundRect">
            <a:avLst>
              <a:gd name="adj" fmla="val 4878"/>
            </a:avLst>
          </a:prstGeom>
          <a:solidFill>
            <a:srgbClr val="FBFCFE"/>
          </a:solidFill>
          <a:ln w="10160">
            <a:solidFill>
              <a:srgbClr val="D9DEE8"/>
            </a:solidFill>
            <a:prstDash val="solid"/>
          </a:ln>
        </p:spPr>
      </p:sp>
      <p:sp>
        <p:nvSpPr>
          <p:cNvPr id="9" name="Text 7"/>
          <p:cNvSpPr/>
          <p:nvPr/>
        </p:nvSpPr>
        <p:spPr>
          <a:xfrm>
            <a:off x="1417320" y="3584448"/>
            <a:ext cx="9326880" cy="320040"/>
          </a:xfrm>
          <a:prstGeom prst="rect">
            <a:avLst/>
          </a:prstGeom>
          <a:noFill/>
          <a:ln/>
        </p:spPr>
        <p:txBody>
          <a:bodyPr wrap="square" lIns="0" tIns="0" rIns="0" bIns="0" rtlCol="0" anchor="ctr"/>
          <a:lstStyle/>
          <a:p>
            <a:pPr algn="ctr" indent="0" marL="0">
              <a:buNone/>
            </a:pPr>
            <a:r>
              <a:rPr lang="en-US" sz="2000" b="1" dirty="0">
                <a:solidFill>
                  <a:srgbClr val="0B1F3A"/>
                </a:solidFill>
              </a:rPr>
              <a:t>“Arrow pointing, but borderline, at the H.”</a:t>
            </a:r>
            <a:endParaRPr lang="en-US" sz="2000" dirty="0"/>
          </a:p>
        </p:txBody>
      </p:sp>
      <p:sp>
        <p:nvSpPr>
          <p:cNvPr id="10" name="Shape 8"/>
          <p:cNvSpPr/>
          <p:nvPr/>
        </p:nvSpPr>
        <p:spPr>
          <a:xfrm>
            <a:off x="1143000" y="4480560"/>
            <a:ext cx="9875520" cy="749808"/>
          </a:xfrm>
          <a:prstGeom prst="roundRect">
            <a:avLst>
              <a:gd name="adj" fmla="val 4878"/>
            </a:avLst>
          </a:prstGeom>
          <a:solidFill>
            <a:srgbClr val="FBFCFE"/>
          </a:solidFill>
          <a:ln w="10160">
            <a:solidFill>
              <a:srgbClr val="D9DEE8"/>
            </a:solidFill>
            <a:prstDash val="solid"/>
          </a:ln>
        </p:spPr>
      </p:sp>
      <p:sp>
        <p:nvSpPr>
          <p:cNvPr id="11" name="Text 9"/>
          <p:cNvSpPr/>
          <p:nvPr/>
        </p:nvSpPr>
        <p:spPr>
          <a:xfrm>
            <a:off x="1417320" y="4645152"/>
            <a:ext cx="9326880" cy="320040"/>
          </a:xfrm>
          <a:prstGeom prst="rect">
            <a:avLst/>
          </a:prstGeom>
          <a:noFill/>
          <a:ln/>
        </p:spPr>
        <p:txBody>
          <a:bodyPr wrap="square" lIns="0" tIns="0" rIns="0" bIns="0" rtlCol="0" anchor="ctr"/>
          <a:lstStyle/>
          <a:p>
            <a:pPr algn="ctr" indent="0" marL="0">
              <a:buNone/>
            </a:pPr>
            <a:r>
              <a:rPr lang="en-US" sz="2000" b="1" dirty="0">
                <a:solidFill>
                  <a:srgbClr val="0B1F3A"/>
                </a:solidFill>
              </a:rPr>
              <a:t>“Fused area must be at least 1 mm in size … and may have different shapes”</a:t>
            </a:r>
            <a:endParaRPr lang="en-US" sz="2000" dirty="0"/>
          </a:p>
        </p:txBody>
      </p:sp>
      <p:sp>
        <p:nvSpPr>
          <p:cNvPr id="12" name="Text 10"/>
          <p:cNvSpPr/>
          <p:nvPr/>
        </p:nvSpPr>
        <p:spPr>
          <a:xfrm>
            <a:off x="3886200" y="5806440"/>
            <a:ext cx="4389120" cy="256032"/>
          </a:xfrm>
          <a:prstGeom prst="rect">
            <a:avLst/>
          </a:prstGeom>
          <a:noFill/>
          <a:ln/>
        </p:spPr>
        <p:txBody>
          <a:bodyPr wrap="square" lIns="0" tIns="0" rIns="0" bIns="0" rtlCol="0" anchor="ctr"/>
          <a:lstStyle/>
          <a:p>
            <a:pPr algn="ctr" indent="0" marL="0">
              <a:buNone/>
            </a:pPr>
            <a:r>
              <a:rPr lang="en-US" sz="1050" dirty="0">
                <a:solidFill>
                  <a:srgbClr val="6C7480"/>
                </a:solidFill>
              </a:rPr>
              <a:t>D29447 – nuvarande Visual Aid</a:t>
            </a:r>
            <a:endParaRPr lang="en-US" sz="1050" dirty="0"/>
          </a:p>
        </p:txBody>
      </p:sp>
      <p:sp>
        <p:nvSpPr>
          <p:cNvPr id="13" name="Text 11"/>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4" name="Text 12"/>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Frågor under träningen</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Först går vi igenom flödet. Frågor tas efter praktisk demo.</a:t>
            </a:r>
            <a:endParaRPr lang="en-US" sz="1150" dirty="0"/>
          </a:p>
        </p:txBody>
      </p:sp>
      <p:sp>
        <p:nvSpPr>
          <p:cNvPr id="4" name="Shape 2"/>
          <p:cNvSpPr/>
          <p:nvPr/>
        </p:nvSpPr>
        <p:spPr>
          <a:xfrm>
            <a:off x="731520" y="1417320"/>
            <a:ext cx="5074920" cy="731520"/>
          </a:xfrm>
          <a:prstGeom prst="roundRect">
            <a:avLst>
              <a:gd name="adj" fmla="val 7500"/>
            </a:avLst>
          </a:prstGeom>
          <a:solidFill>
            <a:srgbClr val="E9F6EC"/>
          </a:solidFill>
          <a:ln w="12700">
            <a:solidFill>
              <a:srgbClr val="A5D6A7"/>
            </a:solidFill>
            <a:prstDash val="solid"/>
          </a:ln>
        </p:spPr>
      </p:sp>
      <p:sp>
        <p:nvSpPr>
          <p:cNvPr id="5" name="Text 3"/>
          <p:cNvSpPr/>
          <p:nvPr/>
        </p:nvSpPr>
        <p:spPr>
          <a:xfrm>
            <a:off x="896112" y="1545336"/>
            <a:ext cx="4745736" cy="475488"/>
          </a:xfrm>
          <a:prstGeom prst="rect">
            <a:avLst/>
          </a:prstGeom>
          <a:noFill/>
          <a:ln/>
        </p:spPr>
        <p:txBody>
          <a:bodyPr wrap="square" lIns="254" tIns="254" rIns="254" bIns="254" rtlCol="0" anchor="ctr">
            <a:normAutofit/>
          </a:bodyPr>
          <a:lstStyle/>
          <a:p>
            <a:pPr indent="0" marL="0">
              <a:buNone/>
            </a:pPr>
            <a:r>
              <a:rPr lang="en-US" sz="1600" b="1" dirty="0">
                <a:solidFill>
                  <a:srgbClr val="111111"/>
                </a:solidFill>
              </a:rPr>
              <a:t>Klassificering enligt D29447 → tas direkt</a:t>
            </a:r>
            <a:endParaRPr lang="en-US" sz="1600" dirty="0"/>
          </a:p>
        </p:txBody>
      </p:sp>
      <p:sp>
        <p:nvSpPr>
          <p:cNvPr id="6" name="Shape 4"/>
          <p:cNvSpPr/>
          <p:nvPr/>
        </p:nvSpPr>
        <p:spPr>
          <a:xfrm>
            <a:off x="731520" y="2395728"/>
            <a:ext cx="5074920" cy="731520"/>
          </a:xfrm>
          <a:prstGeom prst="roundRect">
            <a:avLst>
              <a:gd name="adj" fmla="val 7500"/>
            </a:avLst>
          </a:prstGeom>
          <a:solidFill>
            <a:srgbClr val="FFF6E2"/>
          </a:solidFill>
          <a:ln w="12700">
            <a:solidFill>
              <a:srgbClr val="F3D18A"/>
            </a:solidFill>
            <a:prstDash val="solid"/>
          </a:ln>
        </p:spPr>
      </p:sp>
      <p:sp>
        <p:nvSpPr>
          <p:cNvPr id="7" name="Text 5"/>
          <p:cNvSpPr/>
          <p:nvPr/>
        </p:nvSpPr>
        <p:spPr>
          <a:xfrm>
            <a:off x="896112" y="2523744"/>
            <a:ext cx="4745736" cy="475488"/>
          </a:xfrm>
          <a:prstGeom prst="rect">
            <a:avLst/>
          </a:prstGeom>
          <a:noFill/>
          <a:ln/>
        </p:spPr>
        <p:txBody>
          <a:bodyPr wrap="square" lIns="254" tIns="254" rIns="254" bIns="254" rtlCol="0" anchor="ctr">
            <a:normAutofit/>
          </a:bodyPr>
          <a:lstStyle/>
          <a:p>
            <a:pPr indent="0" marL="0">
              <a:buNone/>
            </a:pPr>
            <a:r>
              <a:rPr lang="en-US" sz="1600" b="1" dirty="0">
                <a:solidFill>
                  <a:srgbClr val="111111"/>
                </a:solidFill>
              </a:rPr>
              <a:t>Tool design / lins / material → parkeras</a:t>
            </a:r>
            <a:endParaRPr lang="en-US" sz="1600" dirty="0"/>
          </a:p>
        </p:txBody>
      </p:sp>
      <p:sp>
        <p:nvSpPr>
          <p:cNvPr id="8" name="Shape 6"/>
          <p:cNvSpPr/>
          <p:nvPr/>
        </p:nvSpPr>
        <p:spPr>
          <a:xfrm>
            <a:off x="731520" y="3374136"/>
            <a:ext cx="5074920" cy="731520"/>
          </a:xfrm>
          <a:prstGeom prst="roundRect">
            <a:avLst>
              <a:gd name="adj" fmla="val 7500"/>
            </a:avLst>
          </a:prstGeom>
          <a:solidFill>
            <a:srgbClr val="FFF6E2"/>
          </a:solidFill>
          <a:ln w="12700">
            <a:solidFill>
              <a:srgbClr val="F3D18A"/>
            </a:solidFill>
            <a:prstDash val="solid"/>
          </a:ln>
        </p:spPr>
      </p:sp>
      <p:sp>
        <p:nvSpPr>
          <p:cNvPr id="9" name="Text 7"/>
          <p:cNvSpPr/>
          <p:nvPr/>
        </p:nvSpPr>
        <p:spPr>
          <a:xfrm>
            <a:off x="896112" y="3502152"/>
            <a:ext cx="4745736" cy="475488"/>
          </a:xfrm>
          <a:prstGeom prst="rect">
            <a:avLst/>
          </a:prstGeom>
          <a:noFill/>
          <a:ln/>
        </p:spPr>
        <p:txBody>
          <a:bodyPr wrap="square" lIns="254" tIns="254" rIns="254" bIns="254" rtlCol="0" anchor="ctr">
            <a:normAutofit/>
          </a:bodyPr>
          <a:lstStyle/>
          <a:p>
            <a:pPr indent="0" marL="0">
              <a:buNone/>
            </a:pPr>
            <a:r>
              <a:rPr lang="en-US" sz="1600" b="1" dirty="0">
                <a:solidFill>
                  <a:srgbClr val="111111"/>
                </a:solidFill>
              </a:rPr>
              <a:t>Specialfall utan exempel → parkeras</a:t>
            </a:r>
            <a:endParaRPr lang="en-US" sz="1600" dirty="0"/>
          </a:p>
        </p:txBody>
      </p:sp>
      <p:sp>
        <p:nvSpPr>
          <p:cNvPr id="10" name="Shape 8"/>
          <p:cNvSpPr/>
          <p:nvPr/>
        </p:nvSpPr>
        <p:spPr>
          <a:xfrm>
            <a:off x="731520" y="4352544"/>
            <a:ext cx="5074920" cy="731520"/>
          </a:xfrm>
          <a:prstGeom prst="roundRect">
            <a:avLst>
              <a:gd name="adj" fmla="val 7500"/>
            </a:avLst>
          </a:prstGeom>
          <a:solidFill>
            <a:srgbClr val="FFF6E2"/>
          </a:solidFill>
          <a:ln w="12700">
            <a:solidFill>
              <a:srgbClr val="F3D18A"/>
            </a:solidFill>
            <a:prstDash val="solid"/>
          </a:ln>
        </p:spPr>
      </p:sp>
      <p:sp>
        <p:nvSpPr>
          <p:cNvPr id="11" name="Text 9"/>
          <p:cNvSpPr/>
          <p:nvPr/>
        </p:nvSpPr>
        <p:spPr>
          <a:xfrm>
            <a:off x="896112" y="4480560"/>
            <a:ext cx="4745736" cy="475488"/>
          </a:xfrm>
          <a:prstGeom prst="rect">
            <a:avLst/>
          </a:prstGeom>
          <a:noFill/>
          <a:ln/>
        </p:spPr>
        <p:txBody>
          <a:bodyPr wrap="square" lIns="254" tIns="254" rIns="254" bIns="254" rtlCol="0" anchor="ctr">
            <a:normAutofit/>
          </a:bodyPr>
          <a:lstStyle/>
          <a:p>
            <a:pPr indent="0" marL="0">
              <a:buNone/>
            </a:pPr>
            <a:r>
              <a:rPr lang="en-US" sz="1600" b="1" dirty="0">
                <a:solidFill>
                  <a:srgbClr val="111111"/>
                </a:solidFill>
              </a:rPr>
              <a:t>Förbättringsförslag → tas efter träningen</a:t>
            </a:r>
            <a:endParaRPr lang="en-US" sz="1600" dirty="0"/>
          </a:p>
        </p:txBody>
      </p:sp>
      <p:sp>
        <p:nvSpPr>
          <p:cNvPr id="12" name="Shape 10"/>
          <p:cNvSpPr/>
          <p:nvPr/>
        </p:nvSpPr>
        <p:spPr>
          <a:xfrm>
            <a:off x="6537960" y="1417320"/>
            <a:ext cx="4480560" cy="3657600"/>
          </a:xfrm>
          <a:prstGeom prst="roundRect">
            <a:avLst>
              <a:gd name="adj" fmla="val 2000"/>
            </a:avLst>
          </a:prstGeom>
          <a:solidFill>
            <a:srgbClr val="EAF2FF"/>
          </a:solidFill>
          <a:ln w="12700">
            <a:solidFill>
              <a:srgbClr val="B9CFF7"/>
            </a:solidFill>
            <a:prstDash val="solid"/>
          </a:ln>
        </p:spPr>
      </p:sp>
      <p:sp>
        <p:nvSpPr>
          <p:cNvPr id="13" name="Text 11"/>
          <p:cNvSpPr/>
          <p:nvPr/>
        </p:nvSpPr>
        <p:spPr>
          <a:xfrm>
            <a:off x="6812280" y="1755648"/>
            <a:ext cx="3931920" cy="274320"/>
          </a:xfrm>
          <a:prstGeom prst="rect">
            <a:avLst/>
          </a:prstGeom>
          <a:noFill/>
          <a:ln/>
        </p:spPr>
        <p:txBody>
          <a:bodyPr wrap="square" lIns="0" tIns="0" rIns="0" bIns="0" rtlCol="0" anchor="ctr"/>
          <a:lstStyle/>
          <a:p>
            <a:pPr algn="ctr" indent="0" marL="0">
              <a:buNone/>
            </a:pPr>
            <a:r>
              <a:rPr lang="en-US" sz="1400" b="1" dirty="0">
                <a:solidFill>
                  <a:srgbClr val="1E5AA8"/>
                </a:solidFill>
              </a:rPr>
              <a:t>Standardfras</a:t>
            </a:r>
            <a:endParaRPr lang="en-US" sz="1400" dirty="0"/>
          </a:p>
        </p:txBody>
      </p:sp>
      <p:sp>
        <p:nvSpPr>
          <p:cNvPr id="14" name="Text 12"/>
          <p:cNvSpPr/>
          <p:nvPr/>
        </p:nvSpPr>
        <p:spPr>
          <a:xfrm>
            <a:off x="6949440" y="2331720"/>
            <a:ext cx="3657600" cy="1097280"/>
          </a:xfrm>
          <a:prstGeom prst="rect">
            <a:avLst/>
          </a:prstGeom>
          <a:noFill/>
          <a:ln/>
        </p:spPr>
        <p:txBody>
          <a:bodyPr wrap="square" lIns="254" tIns="254" rIns="254" bIns="254" rtlCol="0" anchor="ctr">
            <a:normAutofit/>
          </a:bodyPr>
          <a:lstStyle/>
          <a:p>
            <a:pPr algn="ctr" indent="0" marL="0">
              <a:buNone/>
            </a:pPr>
            <a:r>
              <a:rPr lang="en-US" sz="2100" b="1" dirty="0">
                <a:solidFill>
                  <a:srgbClr val="0B1F3A"/>
                </a:solidFill>
              </a:rPr>
              <a:t>“Det där ändrar inte klassificeringsregeln. Vi går tillbaka till kriteriet.”</a:t>
            </a:r>
            <a:endParaRPr lang="en-US" sz="2100" dirty="0"/>
          </a:p>
        </p:txBody>
      </p:sp>
      <p:sp>
        <p:nvSpPr>
          <p:cNvPr id="15" name="Text 13"/>
          <p:cNvSpPr/>
          <p:nvPr/>
        </p:nvSpPr>
        <p:spPr>
          <a:xfrm>
            <a:off x="6949440" y="3840480"/>
            <a:ext cx="3657600" cy="731520"/>
          </a:xfrm>
          <a:prstGeom prst="rect">
            <a:avLst/>
          </a:prstGeom>
          <a:noFill/>
          <a:ln/>
        </p:spPr>
        <p:txBody>
          <a:bodyPr wrap="square" lIns="0" tIns="0" rIns="0" bIns="0" rtlCol="0" anchor="ctr">
            <a:normAutofit/>
          </a:bodyPr>
          <a:lstStyle/>
          <a:p>
            <a:pPr algn="ctr" indent="0" marL="0">
              <a:buNone/>
            </a:pPr>
            <a:r>
              <a:rPr lang="en-US" sz="1500" b="1" dirty="0">
                <a:solidFill>
                  <a:srgbClr val="4A4A4A"/>
                </a:solidFill>
              </a:rPr>
              <a:t>≤10% PASS</a:t>
            </a:r>
            <a:endParaRPr lang="en-US" sz="1500" dirty="0"/>
          </a:p>
          <a:p>
            <a:pPr algn="ctr" indent="0" marL="0">
              <a:buNone/>
            </a:pPr>
            <a:r>
              <a:rPr lang="en-US" sz="1500" b="1" dirty="0">
                <a:solidFill>
                  <a:srgbClr val="4A4A4A"/>
                </a:solidFill>
              </a:rPr>
              <a:t>&gt;10% Minor Visual</a:t>
            </a:r>
            <a:endParaRPr lang="en-US" sz="1500" dirty="0"/>
          </a:p>
          <a:p>
            <a:pPr algn="ctr" indent="0" marL="0">
              <a:buNone/>
            </a:pPr>
            <a:r>
              <a:rPr lang="en-US" sz="1500" b="1" dirty="0">
                <a:solidFill>
                  <a:srgbClr val="4A4A4A"/>
                </a:solidFill>
              </a:rPr>
              <a:t>Multiple gaps Minor Visual</a:t>
            </a:r>
            <a:endParaRPr lang="en-US" sz="1500" dirty="0"/>
          </a:p>
        </p:txBody>
      </p:sp>
      <p:sp>
        <p:nvSpPr>
          <p:cNvPr id="16" name="Text 14"/>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7" name="Text 15"/>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Praktisk övning</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PASS eller Minor Visual – och varför?</a:t>
            </a:r>
            <a:endParaRPr lang="en-US" sz="1150" dirty="0"/>
          </a:p>
        </p:txBody>
      </p:sp>
      <p:sp>
        <p:nvSpPr>
          <p:cNvPr id="4" name="Shape 2"/>
          <p:cNvSpPr/>
          <p:nvPr/>
        </p:nvSpPr>
        <p:spPr>
          <a:xfrm>
            <a:off x="685800" y="1261872"/>
            <a:ext cx="2651760" cy="1828800"/>
          </a:xfrm>
          <a:prstGeom prst="roundRect">
            <a:avLst>
              <a:gd name="adj" fmla="val 2000"/>
            </a:avLst>
          </a:prstGeom>
          <a:solidFill>
            <a:srgbClr val="F5F7FA"/>
          </a:solidFill>
          <a:ln w="15240">
            <a:solidFill>
              <a:srgbClr val="D9DEE8"/>
            </a:solidFill>
            <a:prstDash val="solid"/>
          </a:ln>
        </p:spPr>
      </p:sp>
      <p:sp>
        <p:nvSpPr>
          <p:cNvPr id="5" name="Text 3"/>
          <p:cNvSpPr/>
          <p:nvPr/>
        </p:nvSpPr>
        <p:spPr>
          <a:xfrm>
            <a:off x="777240" y="2029968"/>
            <a:ext cx="246888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Case 1</a:t>
            </a:r>
            <a:endParaRPr lang="en-US" sz="1400" dirty="0"/>
          </a:p>
          <a:p>
            <a:pPr algn="ctr" indent="0" marL="0">
              <a:buNone/>
            </a:pPr>
            <a:r>
              <a:rPr lang="en-US" sz="1400" i="1" dirty="0">
                <a:solidFill>
                  <a:srgbClr val="7A8390"/>
                </a:solidFill>
              </a:rPr>
              <a:t>≤10%</a:t>
            </a:r>
            <a:endParaRPr lang="en-US" sz="1400" dirty="0"/>
          </a:p>
        </p:txBody>
      </p:sp>
      <p:sp>
        <p:nvSpPr>
          <p:cNvPr id="6" name="Shape 4"/>
          <p:cNvSpPr/>
          <p:nvPr/>
        </p:nvSpPr>
        <p:spPr>
          <a:xfrm>
            <a:off x="3566160" y="1261872"/>
            <a:ext cx="2651760" cy="1828800"/>
          </a:xfrm>
          <a:prstGeom prst="roundRect">
            <a:avLst>
              <a:gd name="adj" fmla="val 2000"/>
            </a:avLst>
          </a:prstGeom>
          <a:solidFill>
            <a:srgbClr val="F5F7FA"/>
          </a:solidFill>
          <a:ln w="15240">
            <a:solidFill>
              <a:srgbClr val="D9DEE8"/>
            </a:solidFill>
            <a:prstDash val="solid"/>
          </a:ln>
        </p:spPr>
      </p:sp>
      <p:sp>
        <p:nvSpPr>
          <p:cNvPr id="7" name="Text 5"/>
          <p:cNvSpPr/>
          <p:nvPr/>
        </p:nvSpPr>
        <p:spPr>
          <a:xfrm>
            <a:off x="3657600" y="2029968"/>
            <a:ext cx="246888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Case 2</a:t>
            </a:r>
            <a:endParaRPr lang="en-US" sz="1400" dirty="0"/>
          </a:p>
          <a:p>
            <a:pPr algn="ctr" indent="0" marL="0">
              <a:buNone/>
            </a:pPr>
            <a:r>
              <a:rPr lang="en-US" sz="1400" i="1" dirty="0">
                <a:solidFill>
                  <a:srgbClr val="7A8390"/>
                </a:solidFill>
              </a:rPr>
              <a:t>&gt;10%</a:t>
            </a:r>
            <a:endParaRPr lang="en-US" sz="1400" dirty="0"/>
          </a:p>
        </p:txBody>
      </p:sp>
      <p:sp>
        <p:nvSpPr>
          <p:cNvPr id="8" name="Shape 6"/>
          <p:cNvSpPr/>
          <p:nvPr/>
        </p:nvSpPr>
        <p:spPr>
          <a:xfrm>
            <a:off x="6446520" y="1261872"/>
            <a:ext cx="2651760" cy="1828800"/>
          </a:xfrm>
          <a:prstGeom prst="roundRect">
            <a:avLst>
              <a:gd name="adj" fmla="val 2000"/>
            </a:avLst>
          </a:prstGeom>
          <a:solidFill>
            <a:srgbClr val="F5F7FA"/>
          </a:solidFill>
          <a:ln w="15240">
            <a:solidFill>
              <a:srgbClr val="D9DEE8"/>
            </a:solidFill>
            <a:prstDash val="solid"/>
          </a:ln>
        </p:spPr>
      </p:sp>
      <p:sp>
        <p:nvSpPr>
          <p:cNvPr id="9" name="Text 7"/>
          <p:cNvSpPr/>
          <p:nvPr/>
        </p:nvSpPr>
        <p:spPr>
          <a:xfrm>
            <a:off x="6537960" y="2029968"/>
            <a:ext cx="246888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Case 3</a:t>
            </a:r>
            <a:endParaRPr lang="en-US" sz="1400" dirty="0"/>
          </a:p>
          <a:p>
            <a:pPr algn="ctr" indent="0" marL="0">
              <a:buNone/>
            </a:pPr>
            <a:r>
              <a:rPr lang="en-US" sz="1400" i="1" dirty="0">
                <a:solidFill>
                  <a:srgbClr val="7A8390"/>
                </a:solidFill>
              </a:rPr>
              <a:t>multiple gaps</a:t>
            </a:r>
            <a:endParaRPr lang="en-US" sz="1400" dirty="0"/>
          </a:p>
        </p:txBody>
      </p:sp>
      <p:sp>
        <p:nvSpPr>
          <p:cNvPr id="10" name="Shape 8"/>
          <p:cNvSpPr/>
          <p:nvPr/>
        </p:nvSpPr>
        <p:spPr>
          <a:xfrm>
            <a:off x="9326880" y="1261872"/>
            <a:ext cx="2148840" cy="1828800"/>
          </a:xfrm>
          <a:prstGeom prst="roundRect">
            <a:avLst>
              <a:gd name="adj" fmla="val 2000"/>
            </a:avLst>
          </a:prstGeom>
          <a:solidFill>
            <a:srgbClr val="F5F7FA"/>
          </a:solidFill>
          <a:ln w="15240">
            <a:solidFill>
              <a:srgbClr val="D9DEE8"/>
            </a:solidFill>
            <a:prstDash val="solid"/>
          </a:ln>
        </p:spPr>
      </p:sp>
      <p:sp>
        <p:nvSpPr>
          <p:cNvPr id="11" name="Text 9"/>
          <p:cNvSpPr/>
          <p:nvPr/>
        </p:nvSpPr>
        <p:spPr>
          <a:xfrm>
            <a:off x="9418320" y="2029968"/>
            <a:ext cx="1965960" cy="292608"/>
          </a:xfrm>
          <a:prstGeom prst="rect">
            <a:avLst/>
          </a:prstGeom>
          <a:noFill/>
          <a:ln/>
        </p:spPr>
        <p:txBody>
          <a:bodyPr wrap="square" lIns="254" tIns="254" rIns="254" bIns="254" rtlCol="0" anchor="ctr"/>
          <a:lstStyle/>
          <a:p>
            <a:pPr algn="ctr" indent="0" marL="0">
              <a:buNone/>
            </a:pPr>
            <a:r>
              <a:rPr lang="en-US" sz="1400" i="1" dirty="0">
                <a:solidFill>
                  <a:srgbClr val="7A8390"/>
                </a:solidFill>
              </a:rPr>
              <a:t>Case 4</a:t>
            </a:r>
            <a:endParaRPr lang="en-US" sz="1400" dirty="0"/>
          </a:p>
          <a:p>
            <a:pPr algn="ctr" indent="0" marL="0">
              <a:buNone/>
            </a:pPr>
            <a:r>
              <a:rPr lang="en-US" sz="1400" i="1" dirty="0">
                <a:solidFill>
                  <a:srgbClr val="7A8390"/>
                </a:solidFill>
              </a:rPr>
              <a:t>spray</a:t>
            </a:r>
            <a:endParaRPr lang="en-US" sz="1400" dirty="0"/>
          </a:p>
        </p:txBody>
      </p:sp>
      <p:sp>
        <p:nvSpPr>
          <p:cNvPr id="12" name="Shape 10"/>
          <p:cNvSpPr/>
          <p:nvPr/>
        </p:nvSpPr>
        <p:spPr>
          <a:xfrm>
            <a:off x="914400" y="3977640"/>
            <a:ext cx="10332720" cy="1143000"/>
          </a:xfrm>
          <a:prstGeom prst="roundRect">
            <a:avLst>
              <a:gd name="adj" fmla="val 6400"/>
            </a:avLst>
          </a:prstGeom>
          <a:solidFill>
            <a:srgbClr val="F7FAFF"/>
          </a:solidFill>
          <a:ln w="12700">
            <a:solidFill>
              <a:srgbClr val="C7DAFF"/>
            </a:solidFill>
            <a:prstDash val="solid"/>
          </a:ln>
        </p:spPr>
      </p:sp>
      <p:sp>
        <p:nvSpPr>
          <p:cNvPr id="13" name="Text 11"/>
          <p:cNvSpPr/>
          <p:nvPr/>
        </p:nvSpPr>
        <p:spPr>
          <a:xfrm>
            <a:off x="1234440" y="4242816"/>
            <a:ext cx="1508760" cy="274320"/>
          </a:xfrm>
          <a:prstGeom prst="rect">
            <a:avLst/>
          </a:prstGeom>
          <a:noFill/>
          <a:ln/>
        </p:spPr>
        <p:txBody>
          <a:bodyPr wrap="square" lIns="0" tIns="0" rIns="0" bIns="0" rtlCol="0" anchor="ctr"/>
          <a:lstStyle/>
          <a:p>
            <a:pPr indent="0" marL="0">
              <a:buNone/>
            </a:pPr>
            <a:r>
              <a:rPr lang="en-US" sz="1400" b="1" dirty="0">
                <a:solidFill>
                  <a:srgbClr val="1E5AA8"/>
                </a:solidFill>
              </a:rPr>
              <a:t>Fråga varje gång:</a:t>
            </a:r>
            <a:endParaRPr lang="en-US" sz="1400" dirty="0"/>
          </a:p>
        </p:txBody>
      </p:sp>
      <p:sp>
        <p:nvSpPr>
          <p:cNvPr id="14" name="Text 12"/>
          <p:cNvSpPr/>
          <p:nvPr/>
        </p:nvSpPr>
        <p:spPr>
          <a:xfrm>
            <a:off x="2971800" y="4224528"/>
            <a:ext cx="7635240" cy="310896"/>
          </a:xfrm>
          <a:prstGeom prst="rect">
            <a:avLst/>
          </a:prstGeom>
          <a:noFill/>
          <a:ln/>
        </p:spPr>
        <p:txBody>
          <a:bodyPr wrap="square" lIns="0" tIns="0" rIns="0" bIns="0" rtlCol="0" anchor="ctr"/>
          <a:lstStyle/>
          <a:p>
            <a:pPr indent="0" marL="0">
              <a:buNone/>
            </a:pPr>
            <a:r>
              <a:rPr lang="en-US" sz="1600" b="1" dirty="0">
                <a:solidFill>
                  <a:srgbClr val="0B1F3A"/>
                </a:solidFill>
              </a:rPr>
              <a:t>1. PASS eller Minor Visual?   2. Ett eller flera områden?   3. Behövs overlay?</a:t>
            </a:r>
            <a:endParaRPr lang="en-US" sz="1600" dirty="0"/>
          </a:p>
        </p:txBody>
      </p:sp>
      <p:sp>
        <p:nvSpPr>
          <p:cNvPr id="15" name="Text 13"/>
          <p:cNvSpPr/>
          <p:nvPr/>
        </p:nvSpPr>
        <p:spPr>
          <a:xfrm>
            <a:off x="914400" y="5577840"/>
            <a:ext cx="10332720" cy="329184"/>
          </a:xfrm>
          <a:prstGeom prst="rect">
            <a:avLst/>
          </a:prstGeom>
          <a:noFill/>
          <a:ln/>
        </p:spPr>
        <p:txBody>
          <a:bodyPr wrap="square" lIns="0" tIns="0" rIns="0" bIns="0" rtlCol="0" anchor="ctr"/>
          <a:lstStyle/>
          <a:p>
            <a:pPr algn="ctr" indent="0" marL="0">
              <a:buNone/>
            </a:pPr>
            <a:r>
              <a:rPr lang="en-US" sz="1800" b="1" dirty="0">
                <a:solidFill>
                  <a:srgbClr val="0B1F3A"/>
                </a:solidFill>
              </a:rPr>
              <a:t>Målet är inte perfektion. Målet är konsekvent bedömning.</a:t>
            </a:r>
            <a:endParaRPr lang="en-US" sz="1800" dirty="0"/>
          </a:p>
        </p:txBody>
      </p:sp>
      <p:sp>
        <p:nvSpPr>
          <p:cNvPr id="16" name="Text 14"/>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7" name="Text 15"/>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Slutbudskap</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Tre saker att komma ihåg.</a:t>
            </a:r>
            <a:endParaRPr lang="en-US" sz="1150" dirty="0"/>
          </a:p>
        </p:txBody>
      </p:sp>
      <p:sp>
        <p:nvSpPr>
          <p:cNvPr id="4" name="Shape 2"/>
          <p:cNvSpPr/>
          <p:nvPr/>
        </p:nvSpPr>
        <p:spPr>
          <a:xfrm>
            <a:off x="822960" y="1463040"/>
            <a:ext cx="3200400" cy="914400"/>
          </a:xfrm>
          <a:prstGeom prst="roundRect">
            <a:avLst>
              <a:gd name="adj" fmla="val 12000"/>
            </a:avLst>
          </a:prstGeom>
          <a:solidFill>
            <a:srgbClr val="2E7D32"/>
          </a:solidFill>
          <a:ln w="12700">
            <a:solidFill>
              <a:srgbClr val="2E7D32">
                <a:alpha val="0"/>
              </a:srgbClr>
            </a:solidFill>
            <a:prstDash val="solid"/>
          </a:ln>
        </p:spPr>
      </p:sp>
      <p:sp>
        <p:nvSpPr>
          <p:cNvPr id="5" name="Text 3"/>
          <p:cNvSpPr/>
          <p:nvPr/>
        </p:nvSpPr>
        <p:spPr>
          <a:xfrm>
            <a:off x="932688" y="1572768"/>
            <a:ext cx="2980944" cy="694944"/>
          </a:xfrm>
          <a:prstGeom prst="rect">
            <a:avLst/>
          </a:prstGeom>
          <a:noFill/>
          <a:ln/>
        </p:spPr>
        <p:txBody>
          <a:bodyPr wrap="square" lIns="0" tIns="0" rIns="0" bIns="0" rtlCol="0" anchor="ctr"/>
          <a:lstStyle/>
          <a:p>
            <a:pPr algn="ctr" indent="0" marL="0">
              <a:buNone/>
            </a:pPr>
            <a:r>
              <a:rPr lang="en-US" sz="2700" b="1" dirty="0">
                <a:solidFill>
                  <a:srgbClr val="FFFFFF"/>
                </a:solidFill>
              </a:rPr>
              <a:t>≤10% = PASS</a:t>
            </a:r>
            <a:endParaRPr lang="en-US" sz="2700" dirty="0"/>
          </a:p>
        </p:txBody>
      </p:sp>
      <p:sp>
        <p:nvSpPr>
          <p:cNvPr id="6" name="Shape 4"/>
          <p:cNvSpPr/>
          <p:nvPr/>
        </p:nvSpPr>
        <p:spPr>
          <a:xfrm>
            <a:off x="4526280" y="1463040"/>
            <a:ext cx="3383280" cy="914400"/>
          </a:xfrm>
          <a:prstGeom prst="roundRect">
            <a:avLst>
              <a:gd name="adj" fmla="val 12000"/>
            </a:avLst>
          </a:prstGeom>
          <a:solidFill>
            <a:srgbClr val="B71C1C"/>
          </a:solidFill>
          <a:ln w="12700">
            <a:solidFill>
              <a:srgbClr val="B71C1C">
                <a:alpha val="0"/>
              </a:srgbClr>
            </a:solidFill>
            <a:prstDash val="solid"/>
          </a:ln>
        </p:spPr>
      </p:sp>
      <p:sp>
        <p:nvSpPr>
          <p:cNvPr id="7" name="Text 5"/>
          <p:cNvSpPr/>
          <p:nvPr/>
        </p:nvSpPr>
        <p:spPr>
          <a:xfrm>
            <a:off x="4636008" y="1572768"/>
            <a:ext cx="3163824" cy="694944"/>
          </a:xfrm>
          <a:prstGeom prst="rect">
            <a:avLst/>
          </a:prstGeom>
          <a:noFill/>
          <a:ln/>
        </p:spPr>
        <p:txBody>
          <a:bodyPr wrap="square" lIns="0" tIns="0" rIns="0" bIns="0" rtlCol="0" anchor="ctr"/>
          <a:lstStyle/>
          <a:p>
            <a:pPr algn="ctr" indent="0" marL="0">
              <a:buNone/>
            </a:pPr>
            <a:r>
              <a:rPr lang="en-US" sz="2700" b="1" dirty="0">
                <a:solidFill>
                  <a:srgbClr val="FFFFFF"/>
                </a:solidFill>
              </a:rPr>
              <a:t>&gt;10% = Minor Visual</a:t>
            </a:r>
            <a:endParaRPr lang="en-US" sz="2700" dirty="0"/>
          </a:p>
        </p:txBody>
      </p:sp>
      <p:sp>
        <p:nvSpPr>
          <p:cNvPr id="8" name="Shape 6"/>
          <p:cNvSpPr/>
          <p:nvPr/>
        </p:nvSpPr>
        <p:spPr>
          <a:xfrm>
            <a:off x="8366760" y="1463040"/>
            <a:ext cx="2926080" cy="914400"/>
          </a:xfrm>
          <a:prstGeom prst="roundRect">
            <a:avLst>
              <a:gd name="adj" fmla="val 12000"/>
            </a:avLst>
          </a:prstGeom>
          <a:solidFill>
            <a:srgbClr val="B71C1C"/>
          </a:solidFill>
          <a:ln w="12700">
            <a:solidFill>
              <a:srgbClr val="B71C1C">
                <a:alpha val="0"/>
              </a:srgbClr>
            </a:solidFill>
            <a:prstDash val="solid"/>
          </a:ln>
        </p:spPr>
      </p:sp>
      <p:sp>
        <p:nvSpPr>
          <p:cNvPr id="9" name="Text 7"/>
          <p:cNvSpPr/>
          <p:nvPr/>
        </p:nvSpPr>
        <p:spPr>
          <a:xfrm>
            <a:off x="8476488" y="1572768"/>
            <a:ext cx="2706624" cy="694944"/>
          </a:xfrm>
          <a:prstGeom prst="rect">
            <a:avLst/>
          </a:prstGeom>
          <a:noFill/>
          <a:ln/>
        </p:spPr>
        <p:txBody>
          <a:bodyPr wrap="square" lIns="0" tIns="0" rIns="0" bIns="0" rtlCol="0" anchor="ctr"/>
          <a:lstStyle/>
          <a:p>
            <a:pPr algn="ctr" indent="0" marL="0">
              <a:buNone/>
            </a:pPr>
            <a:r>
              <a:rPr lang="en-US" sz="2700" b="1" dirty="0">
                <a:solidFill>
                  <a:srgbClr val="FFFFFF"/>
                </a:solidFill>
              </a:rPr>
              <a:t>Multiple gaps = Minor Visual</a:t>
            </a:r>
            <a:endParaRPr lang="en-US" sz="2700" dirty="0"/>
          </a:p>
        </p:txBody>
      </p:sp>
      <p:sp>
        <p:nvSpPr>
          <p:cNvPr id="10" name="Shape 8"/>
          <p:cNvSpPr/>
          <p:nvPr/>
        </p:nvSpPr>
        <p:spPr>
          <a:xfrm>
            <a:off x="1143000" y="3291840"/>
            <a:ext cx="9875520" cy="1188720"/>
          </a:xfrm>
          <a:prstGeom prst="roundRect">
            <a:avLst>
              <a:gd name="adj" fmla="val 6154"/>
            </a:avLst>
          </a:prstGeom>
          <a:solidFill>
            <a:srgbClr val="EAF2FF"/>
          </a:solidFill>
          <a:ln w="12700">
            <a:solidFill>
              <a:srgbClr val="B9CFF7"/>
            </a:solidFill>
            <a:prstDash val="solid"/>
          </a:ln>
        </p:spPr>
      </p:sp>
      <p:sp>
        <p:nvSpPr>
          <p:cNvPr id="11" name="Text 9"/>
          <p:cNvSpPr/>
          <p:nvPr/>
        </p:nvSpPr>
        <p:spPr>
          <a:xfrm>
            <a:off x="1508760" y="3657600"/>
            <a:ext cx="9144000" cy="438912"/>
          </a:xfrm>
          <a:prstGeom prst="rect">
            <a:avLst/>
          </a:prstGeom>
          <a:noFill/>
          <a:ln/>
        </p:spPr>
        <p:txBody>
          <a:bodyPr wrap="square" lIns="0" tIns="0" rIns="0" bIns="0" rtlCol="0" anchor="ctr"/>
          <a:lstStyle/>
          <a:p>
            <a:pPr algn="ctr" indent="0" marL="0">
              <a:buNone/>
            </a:pPr>
            <a:r>
              <a:rPr lang="en-US" sz="2400" b="1" dirty="0">
                <a:solidFill>
                  <a:srgbClr val="0B1F3A"/>
                </a:solidFill>
              </a:rPr>
              <a:t>Samma fynd ska ge samma beslut – oavsett skift.</a:t>
            </a:r>
            <a:endParaRPr lang="en-US" sz="2400" dirty="0"/>
          </a:p>
        </p:txBody>
      </p:sp>
      <p:sp>
        <p:nvSpPr>
          <p:cNvPr id="12" name="Text 10"/>
          <p:cNvSpPr/>
          <p:nvPr/>
        </p:nvSpPr>
        <p:spPr>
          <a:xfrm>
            <a:off x="1463040" y="4956048"/>
            <a:ext cx="9235440" cy="320040"/>
          </a:xfrm>
          <a:prstGeom prst="rect">
            <a:avLst/>
          </a:prstGeom>
          <a:noFill/>
          <a:ln/>
        </p:spPr>
        <p:txBody>
          <a:bodyPr wrap="square" lIns="0" tIns="0" rIns="0" bIns="0" rtlCol="0" anchor="ctr"/>
          <a:lstStyle/>
          <a:p>
            <a:pPr algn="ctr" indent="0" marL="0">
              <a:buNone/>
            </a:pPr>
            <a:r>
              <a:rPr lang="en-US" sz="1600" dirty="0">
                <a:solidFill>
                  <a:srgbClr val="4A4A4A"/>
                </a:solidFill>
              </a:rPr>
              <a:t>Vid gränsfall: använd overlay, supervisor och kollega. Skapa inte lokal praxis.</a:t>
            </a:r>
            <a:endParaRPr lang="en-US" sz="1600" dirty="0"/>
          </a:p>
        </p:txBody>
      </p:sp>
      <p:sp>
        <p:nvSpPr>
          <p:cNvPr id="13" name="Text 11"/>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4" name="Text 12"/>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47472"/>
            <a:ext cx="8961120" cy="420624"/>
          </a:xfrm>
          <a:prstGeom prst="rect">
            <a:avLst/>
          </a:prstGeom>
          <a:noFill/>
          <a:ln/>
        </p:spPr>
        <p:txBody>
          <a:bodyPr wrap="square" lIns="0" tIns="0" rIns="0" bIns="0" rtlCol="0" anchor="ctr"/>
          <a:lstStyle/>
          <a:p>
            <a:pPr indent="0" marL="0">
              <a:buNone/>
            </a:pPr>
            <a:r>
              <a:rPr lang="en-US" sz="2400" b="1" dirty="0">
                <a:solidFill>
                  <a:srgbClr val="0B1F3A"/>
                </a:solidFill>
              </a:rPr>
              <a:t>Backup: svåra frågor</a:t>
            </a:r>
            <a:endParaRPr lang="en-US" sz="2400" dirty="0"/>
          </a:p>
        </p:txBody>
      </p:sp>
      <p:sp>
        <p:nvSpPr>
          <p:cNvPr id="3" name="Text 1"/>
          <p:cNvSpPr/>
          <p:nvPr/>
        </p:nvSpPr>
        <p:spPr>
          <a:xfrm>
            <a:off x="521208" y="822960"/>
            <a:ext cx="8778240" cy="256032"/>
          </a:xfrm>
          <a:prstGeom prst="rect">
            <a:avLst/>
          </a:prstGeom>
          <a:noFill/>
          <a:ln/>
        </p:spPr>
        <p:txBody>
          <a:bodyPr wrap="square" lIns="0" tIns="0" rIns="0" bIns="0" rtlCol="0" anchor="ctr"/>
          <a:lstStyle/>
          <a:p>
            <a:pPr indent="0" marL="0">
              <a:buNone/>
            </a:pPr>
            <a:r>
              <a:rPr lang="en-US" sz="1150" dirty="0">
                <a:solidFill>
                  <a:srgbClr val="4A4A4A"/>
                </a:solidFill>
              </a:rPr>
              <a:t>Använd vid behov – inte som huvudgenomgång.</a:t>
            </a:r>
            <a:endParaRPr lang="en-US" sz="1150" dirty="0"/>
          </a:p>
        </p:txBody>
      </p:sp>
      <p:sp>
        <p:nvSpPr>
          <p:cNvPr id="4" name="Shape 2"/>
          <p:cNvSpPr/>
          <p:nvPr/>
        </p:nvSpPr>
        <p:spPr>
          <a:xfrm>
            <a:off x="685800" y="1234440"/>
            <a:ext cx="5440680" cy="914400"/>
          </a:xfrm>
          <a:prstGeom prst="roundRect">
            <a:avLst>
              <a:gd name="adj" fmla="val 6000"/>
            </a:avLst>
          </a:prstGeom>
          <a:solidFill>
            <a:srgbClr val="F8F9FB"/>
          </a:solidFill>
          <a:ln w="12700">
            <a:solidFill>
              <a:srgbClr val="D9DEE8"/>
            </a:solidFill>
            <a:prstDash val="solid"/>
          </a:ln>
        </p:spPr>
      </p:sp>
      <p:sp>
        <p:nvSpPr>
          <p:cNvPr id="5" name="Text 3"/>
          <p:cNvSpPr/>
          <p:nvPr/>
        </p:nvSpPr>
        <p:spPr>
          <a:xfrm>
            <a:off x="850392" y="1362456"/>
            <a:ext cx="5111496" cy="658368"/>
          </a:xfrm>
          <a:prstGeom prst="rect">
            <a:avLst/>
          </a:prstGeom>
          <a:noFill/>
          <a:ln/>
        </p:spPr>
        <p:txBody>
          <a:bodyPr wrap="square" lIns="254" tIns="254" rIns="254" bIns="254" rtlCol="0" anchor="ctr">
            <a:normAutofit/>
          </a:bodyPr>
          <a:lstStyle/>
          <a:p>
            <a:pPr indent="0" marL="0">
              <a:buNone/>
            </a:pPr>
            <a:r>
              <a:rPr lang="en-US" sz="1400" dirty="0">
                <a:solidFill>
                  <a:srgbClr val="111111"/>
                </a:solidFill>
              </a:rPr>
              <a:t>“Det är inte exakt.”</a:t>
            </a:r>
            <a:endParaRPr lang="en-US" sz="1400" dirty="0"/>
          </a:p>
          <a:p>
            <a:pPr indent="0" marL="0">
              <a:buNone/>
            </a:pPr>
            <a:r>
              <a:rPr lang="en-US" sz="1400" dirty="0">
                <a:solidFill>
                  <a:srgbClr val="111111"/>
                </a:solidFill>
              </a:rPr>
              <a:t>Svar: Korrekt. Det är visuell inspektion enligt D29447 – med hjälpverktyg.</a:t>
            </a:r>
            <a:endParaRPr lang="en-US" sz="1400" dirty="0"/>
          </a:p>
        </p:txBody>
      </p:sp>
      <p:sp>
        <p:nvSpPr>
          <p:cNvPr id="6" name="Shape 4"/>
          <p:cNvSpPr/>
          <p:nvPr/>
        </p:nvSpPr>
        <p:spPr>
          <a:xfrm>
            <a:off x="685800" y="2395728"/>
            <a:ext cx="5440680" cy="914400"/>
          </a:xfrm>
          <a:prstGeom prst="roundRect">
            <a:avLst>
              <a:gd name="adj" fmla="val 6000"/>
            </a:avLst>
          </a:prstGeom>
          <a:solidFill>
            <a:srgbClr val="F8F9FB"/>
          </a:solidFill>
          <a:ln w="12700">
            <a:solidFill>
              <a:srgbClr val="D9DEE8"/>
            </a:solidFill>
            <a:prstDash val="solid"/>
          </a:ln>
        </p:spPr>
      </p:sp>
      <p:sp>
        <p:nvSpPr>
          <p:cNvPr id="7" name="Text 5"/>
          <p:cNvSpPr/>
          <p:nvPr/>
        </p:nvSpPr>
        <p:spPr>
          <a:xfrm>
            <a:off x="850392" y="2523744"/>
            <a:ext cx="5111496" cy="658368"/>
          </a:xfrm>
          <a:prstGeom prst="rect">
            <a:avLst/>
          </a:prstGeom>
          <a:noFill/>
          <a:ln/>
        </p:spPr>
        <p:txBody>
          <a:bodyPr wrap="square" lIns="254" tIns="254" rIns="254" bIns="254" rtlCol="0" anchor="ctr">
            <a:normAutofit/>
          </a:bodyPr>
          <a:lstStyle/>
          <a:p>
            <a:pPr indent="0" marL="0">
              <a:buNone/>
            </a:pPr>
            <a:r>
              <a:rPr lang="en-US" sz="1400" dirty="0">
                <a:solidFill>
                  <a:srgbClr val="111111"/>
                </a:solidFill>
              </a:rPr>
              <a:t>“Det var enklare förut.”</a:t>
            </a:r>
            <a:endParaRPr lang="en-US" sz="1400" dirty="0"/>
          </a:p>
          <a:p>
            <a:pPr indent="0" marL="0">
              <a:buNone/>
            </a:pPr>
            <a:r>
              <a:rPr lang="en-US" sz="1400" dirty="0">
                <a:solidFill>
                  <a:srgbClr val="111111"/>
                </a:solidFill>
              </a:rPr>
              <a:t>Svar: Ja. Förut failade vi mer. Nu bedömer vi omfattning.</a:t>
            </a:r>
            <a:endParaRPr lang="en-US" sz="1400" dirty="0"/>
          </a:p>
        </p:txBody>
      </p:sp>
      <p:sp>
        <p:nvSpPr>
          <p:cNvPr id="8" name="Shape 6"/>
          <p:cNvSpPr/>
          <p:nvPr/>
        </p:nvSpPr>
        <p:spPr>
          <a:xfrm>
            <a:off x="685800" y="3557016"/>
            <a:ext cx="5440680" cy="914400"/>
          </a:xfrm>
          <a:prstGeom prst="roundRect">
            <a:avLst>
              <a:gd name="adj" fmla="val 6000"/>
            </a:avLst>
          </a:prstGeom>
          <a:solidFill>
            <a:srgbClr val="F8F9FB"/>
          </a:solidFill>
          <a:ln w="12700">
            <a:solidFill>
              <a:srgbClr val="D9DEE8"/>
            </a:solidFill>
            <a:prstDash val="solid"/>
          </a:ln>
        </p:spPr>
      </p:sp>
      <p:sp>
        <p:nvSpPr>
          <p:cNvPr id="9" name="Text 7"/>
          <p:cNvSpPr/>
          <p:nvPr/>
        </p:nvSpPr>
        <p:spPr>
          <a:xfrm>
            <a:off x="850392" y="3685032"/>
            <a:ext cx="5111496" cy="658368"/>
          </a:xfrm>
          <a:prstGeom prst="rect">
            <a:avLst/>
          </a:prstGeom>
          <a:noFill/>
          <a:ln/>
        </p:spPr>
        <p:txBody>
          <a:bodyPr wrap="square" lIns="254" tIns="254" rIns="254" bIns="254" rtlCol="0" anchor="ctr">
            <a:normAutofit/>
          </a:bodyPr>
          <a:lstStyle/>
          <a:p>
            <a:pPr indent="0" marL="0">
              <a:buNone/>
            </a:pPr>
            <a:r>
              <a:rPr lang="en-US" sz="1400" dirty="0">
                <a:solidFill>
                  <a:srgbClr val="111111"/>
                </a:solidFill>
              </a:rPr>
              <a:t>“Vad är spray-like?”</a:t>
            </a:r>
            <a:endParaRPr lang="en-US" sz="1400" dirty="0"/>
          </a:p>
          <a:p>
            <a:pPr indent="0" marL="0">
              <a:buNone/>
            </a:pPr>
            <a:r>
              <a:rPr lang="en-US" sz="1400" dirty="0">
                <a:solidFill>
                  <a:srgbClr val="111111"/>
                </a:solidFill>
              </a:rPr>
              <a:t>Svar: I denna bedömning räknas spray/non-uniform som unsealed area.</a:t>
            </a:r>
            <a:endParaRPr lang="en-US" sz="1400" dirty="0"/>
          </a:p>
        </p:txBody>
      </p:sp>
      <p:sp>
        <p:nvSpPr>
          <p:cNvPr id="10" name="Shape 8"/>
          <p:cNvSpPr/>
          <p:nvPr/>
        </p:nvSpPr>
        <p:spPr>
          <a:xfrm>
            <a:off x="6446520" y="1234440"/>
            <a:ext cx="5074920" cy="914400"/>
          </a:xfrm>
          <a:prstGeom prst="roundRect">
            <a:avLst>
              <a:gd name="adj" fmla="val 6000"/>
            </a:avLst>
          </a:prstGeom>
          <a:solidFill>
            <a:srgbClr val="F8F9FB"/>
          </a:solidFill>
          <a:ln w="12700">
            <a:solidFill>
              <a:srgbClr val="D9DEE8"/>
            </a:solidFill>
            <a:prstDash val="solid"/>
          </a:ln>
        </p:spPr>
      </p:sp>
      <p:sp>
        <p:nvSpPr>
          <p:cNvPr id="11" name="Text 9"/>
          <p:cNvSpPr/>
          <p:nvPr/>
        </p:nvSpPr>
        <p:spPr>
          <a:xfrm>
            <a:off x="6611112" y="1362456"/>
            <a:ext cx="4745736" cy="658368"/>
          </a:xfrm>
          <a:prstGeom prst="rect">
            <a:avLst/>
          </a:prstGeom>
          <a:noFill/>
          <a:ln/>
        </p:spPr>
        <p:txBody>
          <a:bodyPr wrap="square" lIns="254" tIns="254" rIns="254" bIns="254" rtlCol="0" anchor="ctr">
            <a:normAutofit/>
          </a:bodyPr>
          <a:lstStyle/>
          <a:p>
            <a:pPr indent="0" marL="0">
              <a:buNone/>
            </a:pPr>
            <a:r>
              <a:rPr lang="en-US" sz="1400" dirty="0">
                <a:solidFill>
                  <a:srgbClr val="111111"/>
                </a:solidFill>
              </a:rPr>
              <a:t>“Lins/material/ytkemi?”</a:t>
            </a:r>
            <a:endParaRPr lang="en-US" sz="1400" dirty="0"/>
          </a:p>
          <a:p>
            <a:pPr indent="0" marL="0">
              <a:buNone/>
            </a:pPr>
            <a:r>
              <a:rPr lang="en-US" sz="1400" dirty="0">
                <a:solidFill>
                  <a:srgbClr val="111111"/>
                </a:solidFill>
              </a:rPr>
              <a:t>Svar: Det är tool design. Här tränar vi klassificering enligt D29447.</a:t>
            </a:r>
            <a:endParaRPr lang="en-US" sz="1400" dirty="0"/>
          </a:p>
        </p:txBody>
      </p:sp>
      <p:sp>
        <p:nvSpPr>
          <p:cNvPr id="12" name="Shape 10"/>
          <p:cNvSpPr/>
          <p:nvPr/>
        </p:nvSpPr>
        <p:spPr>
          <a:xfrm>
            <a:off x="6446520" y="2395728"/>
            <a:ext cx="5074920" cy="914400"/>
          </a:xfrm>
          <a:prstGeom prst="roundRect">
            <a:avLst>
              <a:gd name="adj" fmla="val 6000"/>
            </a:avLst>
          </a:prstGeom>
          <a:solidFill>
            <a:srgbClr val="F8F9FB"/>
          </a:solidFill>
          <a:ln w="12700">
            <a:solidFill>
              <a:srgbClr val="D9DEE8"/>
            </a:solidFill>
            <a:prstDash val="solid"/>
          </a:ln>
        </p:spPr>
      </p:sp>
      <p:sp>
        <p:nvSpPr>
          <p:cNvPr id="13" name="Text 11"/>
          <p:cNvSpPr/>
          <p:nvPr/>
        </p:nvSpPr>
        <p:spPr>
          <a:xfrm>
            <a:off x="6611112" y="2523744"/>
            <a:ext cx="4745736" cy="658368"/>
          </a:xfrm>
          <a:prstGeom prst="rect">
            <a:avLst/>
          </a:prstGeom>
          <a:noFill/>
          <a:ln/>
        </p:spPr>
        <p:txBody>
          <a:bodyPr wrap="square" lIns="254" tIns="254" rIns="254" bIns="254" rtlCol="0" anchor="ctr">
            <a:normAutofit/>
          </a:bodyPr>
          <a:lstStyle/>
          <a:p>
            <a:pPr indent="0" marL="0">
              <a:buNone/>
            </a:pPr>
            <a:r>
              <a:rPr lang="en-US" sz="1400" dirty="0">
                <a:solidFill>
                  <a:srgbClr val="111111"/>
                </a:solidFill>
              </a:rPr>
              <a:t>“Borde verktyget vara annorlunda?”</a:t>
            </a:r>
            <a:endParaRPr lang="en-US" sz="1400" dirty="0"/>
          </a:p>
          <a:p>
            <a:pPr indent="0" marL="0">
              <a:buNone/>
            </a:pPr>
            <a:r>
              <a:rPr lang="en-US" sz="1400" dirty="0">
                <a:solidFill>
                  <a:srgbClr val="111111"/>
                </a:solidFill>
              </a:rPr>
              <a:t>Svar: Det hanteras separat via projekt/engineering. Vi använder released tool.</a:t>
            </a:r>
            <a:endParaRPr lang="en-US" sz="1400" dirty="0"/>
          </a:p>
        </p:txBody>
      </p:sp>
      <p:sp>
        <p:nvSpPr>
          <p:cNvPr id="14" name="Shape 12"/>
          <p:cNvSpPr/>
          <p:nvPr/>
        </p:nvSpPr>
        <p:spPr>
          <a:xfrm>
            <a:off x="6446520" y="3557016"/>
            <a:ext cx="5074920" cy="914400"/>
          </a:xfrm>
          <a:prstGeom prst="roundRect">
            <a:avLst>
              <a:gd name="adj" fmla="val 6000"/>
            </a:avLst>
          </a:prstGeom>
          <a:solidFill>
            <a:srgbClr val="F8F9FB"/>
          </a:solidFill>
          <a:ln w="12700">
            <a:solidFill>
              <a:srgbClr val="D9DEE8"/>
            </a:solidFill>
            <a:prstDash val="solid"/>
          </a:ln>
        </p:spPr>
      </p:sp>
      <p:sp>
        <p:nvSpPr>
          <p:cNvPr id="15" name="Text 13"/>
          <p:cNvSpPr/>
          <p:nvPr/>
        </p:nvSpPr>
        <p:spPr>
          <a:xfrm>
            <a:off x="6611112" y="3685032"/>
            <a:ext cx="4745736" cy="658368"/>
          </a:xfrm>
          <a:prstGeom prst="rect">
            <a:avLst/>
          </a:prstGeom>
          <a:noFill/>
          <a:ln/>
        </p:spPr>
        <p:txBody>
          <a:bodyPr wrap="square" lIns="254" tIns="254" rIns="254" bIns="254" rtlCol="0" anchor="ctr">
            <a:normAutofit/>
          </a:bodyPr>
          <a:lstStyle/>
          <a:p>
            <a:pPr indent="0" marL="0">
              <a:buNone/>
            </a:pPr>
            <a:r>
              <a:rPr lang="en-US" sz="1400" dirty="0">
                <a:solidFill>
                  <a:srgbClr val="111111"/>
                </a:solidFill>
              </a:rPr>
              <a:t>“Vad gör jag vid osäkerhet?”</a:t>
            </a:r>
            <a:endParaRPr lang="en-US" sz="1400" dirty="0"/>
          </a:p>
          <a:p>
            <a:pPr indent="0" marL="0">
              <a:buNone/>
            </a:pPr>
            <a:r>
              <a:rPr lang="en-US" sz="1400" dirty="0">
                <a:solidFill>
                  <a:srgbClr val="111111"/>
                </a:solidFill>
              </a:rPr>
              <a:t>Svar: Använd overlay, ta stöd av supervisor/kollega och följ D29447.</a:t>
            </a:r>
            <a:endParaRPr lang="en-US" sz="1400" dirty="0"/>
          </a:p>
        </p:txBody>
      </p:sp>
      <p:sp>
        <p:nvSpPr>
          <p:cNvPr id="16" name="Text 14"/>
          <p:cNvSpPr/>
          <p:nvPr/>
        </p:nvSpPr>
        <p:spPr>
          <a:xfrm>
            <a:off x="914400" y="5257800"/>
            <a:ext cx="10332720" cy="347472"/>
          </a:xfrm>
          <a:prstGeom prst="rect">
            <a:avLst/>
          </a:prstGeom>
          <a:noFill/>
          <a:ln/>
        </p:spPr>
        <p:txBody>
          <a:bodyPr wrap="square" lIns="0" tIns="0" rIns="0" bIns="0" rtlCol="0" anchor="ctr"/>
          <a:lstStyle/>
          <a:p>
            <a:pPr algn="ctr" indent="0" marL="0">
              <a:buNone/>
            </a:pPr>
            <a:r>
              <a:rPr lang="en-US" sz="1800" b="1" dirty="0">
                <a:solidFill>
                  <a:srgbClr val="0B1F3A"/>
                </a:solidFill>
              </a:rPr>
              <a:t>Stoppfras: “Det där ändrar inte klassificeringsregeln. Vi går vidare.”</a:t>
            </a:r>
            <a:endParaRPr lang="en-US" sz="1800" dirty="0"/>
          </a:p>
        </p:txBody>
      </p:sp>
      <p:sp>
        <p:nvSpPr>
          <p:cNvPr id="17" name="Text 15"/>
          <p:cNvSpPr/>
          <p:nvPr/>
        </p:nvSpPr>
        <p:spPr>
          <a:xfrm>
            <a:off x="438912" y="6455664"/>
            <a:ext cx="5303520" cy="201168"/>
          </a:xfrm>
          <a:prstGeom prst="rect">
            <a:avLst/>
          </a:prstGeom>
          <a:noFill/>
          <a:ln/>
        </p:spPr>
        <p:txBody>
          <a:bodyPr wrap="square" lIns="0" tIns="0" rIns="0" bIns="0" rtlCol="0" anchor="ctr"/>
          <a:lstStyle/>
          <a:p>
            <a:pPr indent="0" marL="0">
              <a:buNone/>
            </a:pPr>
            <a:r>
              <a:rPr lang="en-US" sz="850" dirty="0">
                <a:solidFill>
                  <a:srgbClr val="6C7480"/>
                </a:solidFill>
              </a:rPr>
              <a:t>POFS / D29447 – training inför release</a:t>
            </a:r>
            <a:endParaRPr lang="en-US" sz="850" dirty="0"/>
          </a:p>
        </p:txBody>
      </p:sp>
      <p:sp>
        <p:nvSpPr>
          <p:cNvPr id="18" name="Text 16"/>
          <p:cNvSpPr/>
          <p:nvPr/>
        </p:nvSpPr>
        <p:spPr>
          <a:xfrm>
            <a:off x="11475720" y="6446520"/>
            <a:ext cx="320040" cy="201168"/>
          </a:xfrm>
          <a:prstGeom prst="rect">
            <a:avLst/>
          </a:prstGeom>
          <a:noFill/>
          <a:ln/>
        </p:spPr>
        <p:txBody>
          <a:bodyPr wrap="square" lIns="0" tIns="0" rIns="0" bIns="0" rtlCol="0" anchor="ctr"/>
          <a:lstStyle/>
          <a:p>
            <a:pPr algn="r" indent="0" marL="0">
              <a:buNone/>
            </a:pPr>
            <a:r>
              <a:rPr lang="en-US" sz="850" dirty="0">
                <a:solidFill>
                  <a:srgbClr val="6C7480"/>
                </a:solidFill>
              </a:rPr>
              <a:t>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Cepheid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POFS – uppdaterade kriterier i D29447</dc:title>
  <dc:subject>POFS training – D29447 updated criteria</dc:subject>
  <dc:creator>OpenAI</dc:creator>
  <cp:lastModifiedBy>OpenAI</cp:lastModifiedBy>
  <cp:revision>1</cp:revision>
  <dcterms:created xsi:type="dcterms:W3CDTF">2026-05-17T13:11:51Z</dcterms:created>
  <dcterms:modified xsi:type="dcterms:W3CDTF">2026-05-17T13:11:51Z</dcterms:modified>
</cp:coreProperties>
</file>