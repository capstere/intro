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Öppna med att detta är en praktisk struktur för första veckan, inte en genväg runt formell träning.
Var tydlig: access-ansvar och verktyg ligger hos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Säg att presentationen är tänkt att vara första veckan i miniformat: ansvar först, regler sedan, praktiskt flöde 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är kärnan i ditt budskap.
Poängtera att du inte vägrar hjälpa till - du förtydligar ägarskapet.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Använd detta som en check-in med Supervisor: klart, inte klart, vem äger blocker, när följs det upp.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Säg detta tydligt till Klara och Nos.
Det är okej att inte kunna. Det är inte okej att gissa eller göra osignerade moment självständigt.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Använd denna slide för att förklara skillnaden mellan att ha fått information och att vara kvalificerad att utföra något självständigt.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att dubbelsignering inte är misstro - det är ett kvalitetskrav och ett skydd för båda parter.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 en konkret accesslista redan måndag. Skriv inte bara vad som saknas - skriv ägare och nästa åtgärd.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är nyckelbudskapet när CW ligger nere: arbetet kan fortsätta kontrollerat, men inte informellt.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Poängtera att säkerhet inte bara är EHS - det är också kvalitetsrisk, dokumentationsrisk och personlig trygghet.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Rita gärna upp det här på whiteboard också. Det gör alla dokument mindre abstrakta.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Standard Work till verklig vardag: flöde, avlastning och överlämning.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Använd inte dokumentlistan som en mur. Förklara vad varje dokument är till för.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screenshoten som exempel på att curricula är en faktisk kontrollpunkt, inte en administrativ detalj.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tydlig men positiv: Nos erfarenhet används smart, Klara får trygg grund från början.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Detta är också din arbetsbelastningskontroll: de får struktur utan att du är låst hela dagen.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 tiden är knapp: kapa detaljerna, inte ansvarsbilden och signeringsbilden.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är bra att använda på fredagens Supervisor-avstämning.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här sliden kan kopieras rakt in i ett mail till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Avsluta med att presentationen är ett hjälpmedel. Det är de kontrollerade dokumenten och protokollen som gäller.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37960"/>
            <a:ext cx="11201400" cy="0"/>
          </a:xfrm>
          <a:prstGeom prst="line">
            <a:avLst/>
          </a:prstGeom>
          <a:noFill/>
          <a:ln w="8890">
            <a:solidFill>
              <a:srgbClr val="D7E5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88"/>
                </a:solidFill>
              </a:rPr>
              <a:t>PQC/IPT onboarding - konferensrumsgenomgång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9494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Första veckan på PQC/IPT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9EF"/>
                </a:solidFill>
              </a:rPr>
              <a:t>Konferensrumsgenomgång för Nos Arvidsson och Klara Ruke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CDD5"/>
                </a:solidFill>
              </a:rPr>
              <a:t>Måndag 1 juni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5074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Målet: trygg start, rätt ansvar, rätt dokumentation - innan något görs självständigt.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2376" y="5669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9EF"/>
                </a:solidFill>
              </a:rPr>
              <a:t>Supervisor äger access och verktyg. Handledare stöttar praktiskt.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72600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D8DE"/>
                </a:solidFill>
              </a:rPr>
              <a:t>ONBOARDING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920240"/>
            <a:ext cx="2926080" cy="530352"/>
          </a:xfrm>
          <a:prstGeom prst="rect">
            <a:avLst/>
          </a:prstGeom>
          <a:solidFill>
            <a:srgbClr val="174A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PQC / IPT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0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FE9EF"/>
                </a:solidFill>
              </a:rPr>
              <a:t>Onboarding basics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Vad vi ska täcka i rummet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Gör genomgången tydlig, lugn och avgränsad.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640080" cy="658368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43560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Vem ansvarar för vad: Supervisor, handledare och sommarjobbare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640080" cy="658368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Compliance-grunder: inskolningsprotokoll, signering och dubbelsignering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40080" cy="658368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30815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Accesser och verktyg som måste fungera för att veckan inte ska fastna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80760" y="1417320"/>
            <a:ext cx="640080" cy="658368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A7C"/>
                </a:solidFill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0" y="14356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IPT-flödet: från ROBAL till dokumentation, data och granskning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80760" y="2240280"/>
            <a:ext cx="640080" cy="658368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A7C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0" y="2258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Säkerhet, labbmiljö, dokument och pappersfallback om CW strular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80760" y="3063240"/>
            <a:ext cx="640080" cy="658368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A7C"/>
                </a:solidFill>
              </a:rPr>
              <a:t>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308152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Första veckans plan: läsa, observera, fråga och börja under handledning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4663440"/>
            <a:ext cx="9875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Röd tråd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047488"/>
            <a:ext cx="98755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Ingen ska behöva gissa vad de får göra, vem som äger accessfrågor eller vad som måste signeras innan självständigt arbete.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Ansvarsfördelning: inga gråzoner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Detta är viktigaste bilden för att skydda både dem, dig och processen.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ROLLER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4A7C"/>
                </a:solidFill>
              </a:rPr>
              <a:t>Supervisor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2971800" cy="1828800"/>
          </a:xfrm>
          <a:prstGeom prst="rect">
            <a:avLst/>
          </a:prstGeom>
          <a:solidFill>
            <a:srgbClr val="E7F0FA"/>
          </a:solidFill>
          <a:ln>
            <a:solidFill>
              <a:srgbClr val="E7F0FA">
                <a:alpha val="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B"/>
                </a:solidFill>
              </a:rPr>
              <a:t>Äger accesser, verktyg, curricula, rekvalificeringsscope, prioritering och eskalering.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43400" y="14173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C89"/>
                </a:solidFill>
              </a:rPr>
              <a:t>Handledare / Jesper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43400" y="1993392"/>
            <a:ext cx="2971800" cy="1828800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B"/>
                </a:solidFill>
              </a:rPr>
              <a:t>Stöttar praktiskt: visar labb, flöden, dokument, system och signerar bara det som faktiskt gåtts igenom.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14173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7F4B"/>
                </a:solidFill>
              </a:rPr>
              <a:t>Sommarjobbare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46720" y="1993392"/>
            <a:ext cx="2971800" cy="1828800"/>
          </a:xfrm>
          <a:prstGeom prst="rect">
            <a:avLst/>
          </a:prstGeom>
          <a:solidFill>
            <a:srgbClr val="E6F4EA"/>
          </a:solidFill>
          <a:ln>
            <a:solidFill>
              <a:srgbClr val="E6F4EA">
                <a:alpha val="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313B"/>
                </a:solidFill>
              </a:rPr>
              <a:t>Läser, frågar, dokumenterar blockers och utför aldrig moment som inte är genomgånget/signat.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4736592"/>
            <a:ext cx="8503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Viktig formulering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5120640"/>
            <a:ext cx="8503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Jag hjälper till praktiskt, men Supervisor måste säkerställa att rätt accesser, verktyg och training finns på plats.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 Supervisor måste ha klart före start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Detta bör följas upp innan måndag morgon eller direkt vid ankomst.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FÖRE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740664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7313B"/>
                </a:solidFill>
              </a:rPr>
              <a:t>Datorlogin, mail och Workday/Kontek är initierade och fungerar eller har tydlig blocker.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ComplianceWire-curricula är tilldelade eller HR är kontaktad om curricula saknas.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Labaccess, QC-mappar, mailgrupper, GateKeeper, Agile, MES och BMRAM är beställda/ägda.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Nos: beslut om rekvalificeringsscope - full eller riktad rekvalificering.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Klara: behandlas som full nyinskolning enligt ITP0057 Attachment 2.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Personliga inskolningspärmar/mapp finns och är märkta med namn.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Supervisor-frågan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66760" y="1993392"/>
            <a:ext cx="2926080" cy="1325880"/>
          </a:xfrm>
          <a:prstGeom prst="rect">
            <a:avLst/>
          </a:prstGeom>
          <a:solidFill>
            <a:srgbClr val="FEE4E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</a:rPr>
              <a:t>“Vem äger nästa steg om access inte fungerar?”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21040" y="3657600"/>
            <a:ext cx="30632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16A78"/>
                </a:solidFill>
              </a:rPr>
              <a:t>Skriv inte bara “strular”. Skriv system, blocker, ägare och nästa åtgärd.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Compliance-grunden: ITP0057 styr inskolningen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Inskolning är ett dokumenterat kvalitetsmoment - inte bara “visa lite snabbt”.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34290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89"/>
                </a:solidFill>
              </a:rPr>
              <a:t>1. Protokollet är beviset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429000" cy="103327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Varje moment ska framgå med datum, kvalificeringsgrad och signatur.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62272" y="1353312"/>
            <a:ext cx="34290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A7C"/>
                </a:solidFill>
              </a:rPr>
              <a:t>2. Signatur betyder ansvar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62272" y="1737360"/>
            <a:ext cx="3429000" cy="103327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Signera bara sådant som faktiskt har lästs, gåtts igenom, demonstrerats eller bedömts.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1353312"/>
            <a:ext cx="34290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3. Aktuell revision gäller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1737360"/>
            <a:ext cx="3429000" cy="103327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Pappersläsning får inte bygga på gamla utskrifter. Kontrollera released revision i Agile.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3794760"/>
            <a:ext cx="83210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4. Ej inskolad = ej självständig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4178808"/>
            <a:ext cx="8321040" cy="603504"/>
          </a:xfrm>
          <a:prstGeom prst="rect">
            <a:avLst/>
          </a:prstGeom>
          <a:solidFill>
            <a:srgbClr val="FEE4E2"/>
          </a:solidFill>
          <a:ln>
            <a:solidFill>
              <a:srgbClr val="FEE4E2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Man får observera och träna under handledning, men inte utföra moment självständigt före rätt signering.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Kvalificeringsgrader - vad betyder orden?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Gemensamt språk minskar risken för fel signering.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SIGNERING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52728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C89"/>
                </a:solidFill>
              </a:rPr>
              <a:t>Genomgång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46120" y="1472184"/>
            <a:ext cx="457200" cy="0"/>
          </a:xfrm>
          <a:prstGeom prst="line">
            <a:avLst/>
          </a:prstGeom>
          <a:noFill/>
          <a:ln w="15240">
            <a:solidFill>
              <a:srgbClr val="A8BB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58768" y="1234440"/>
            <a:ext cx="70408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Handledaren går igenom momentet eller visar var information finns och hur den används.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112264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C89"/>
                </a:solidFill>
              </a:rPr>
              <a:t>Utför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457200" cy="0"/>
          </a:xfrm>
          <a:prstGeom prst="line">
            <a:avLst/>
          </a:prstGeom>
          <a:noFill/>
          <a:ln w="15240">
            <a:solidFill>
              <a:srgbClr val="A8BB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2093976"/>
            <a:ext cx="7040880" cy="512064"/>
          </a:xfrm>
          <a:prstGeom prst="rect">
            <a:avLst/>
          </a:prstGeom>
          <a:solidFill>
            <a:srgbClr val="EEF5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Den inskolade har läst, förstått och utfört momentet enligt metod.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C89"/>
                </a:solidFill>
              </a:rPr>
              <a:t>Avstämning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3191256"/>
            <a:ext cx="457200" cy="0"/>
          </a:xfrm>
          <a:prstGeom prst="line">
            <a:avLst/>
          </a:prstGeom>
          <a:noFill/>
          <a:ln w="15240">
            <a:solidFill>
              <a:srgbClr val="A8BB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953512"/>
            <a:ext cx="70408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Kontroll efter en tid: personen behärskar momentet i praktiken.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831336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PQ1-status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46120" y="4050792"/>
            <a:ext cx="457200" cy="0"/>
          </a:xfrm>
          <a:prstGeom prst="line">
            <a:avLst/>
          </a:prstGeom>
          <a:noFill/>
          <a:ln w="15240">
            <a:solidFill>
              <a:srgbClr val="A8BB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3813048"/>
            <a:ext cx="7040880" cy="512064"/>
          </a:xfrm>
          <a:prstGeom prst="rect">
            <a:avLst/>
          </a:prstGeom>
          <a:solidFill>
            <a:srgbClr val="EEF5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Godkänd att utföra laborativt moment och tillhörande dokumentation självständigt.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690872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PQ3-status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46120" y="4910328"/>
            <a:ext cx="457200" cy="0"/>
          </a:xfrm>
          <a:prstGeom prst="line">
            <a:avLst/>
          </a:prstGeom>
          <a:noFill/>
          <a:ln w="15240">
            <a:solidFill>
              <a:srgbClr val="A8BB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4672584"/>
            <a:ext cx="70408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Kan analysera, tolka och granska data självständigt enligt gällande rutiner.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715000"/>
            <a:ext cx="93268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Huvudregel för PQ1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6099048"/>
            <a:ext cx="9326880" cy="118872"/>
          </a:xfrm>
          <a:prstGeom prst="rect">
            <a:avLst/>
          </a:prstGeom>
          <a:solidFill>
            <a:srgbClr val="FFF4D6"/>
          </a:solidFill>
          <a:ln>
            <a:solidFill>
              <a:srgbClr val="FFF4D6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För större moment: först minst en gång under handledning, sedan självständigt med granskning - om inte chef/handledare beslutar annat enligt rutin.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Dubbelsignering: skyddsnätet under inskolning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Tills momentet är signerat/kvalificerat ska dokumentation kontrolleras av handledare.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DUBBELSIGN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08760" y="2880360"/>
            <a:ext cx="9052560" cy="0"/>
          </a:xfrm>
          <a:prstGeom prst="line">
            <a:avLst/>
          </a:prstGeom>
          <a:noFill/>
          <a:ln w="279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2404872"/>
            <a:ext cx="5029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1417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B"/>
                </a:solidFill>
              </a:rPr>
              <a:t>Läser / ser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108960" y="2404872"/>
            <a:ext cx="5029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97480" y="3127248"/>
            <a:ext cx="1417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B"/>
                </a:solidFill>
              </a:rPr>
              <a:t>Gör med handledare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303520" y="2404872"/>
            <a:ext cx="5029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3127248"/>
            <a:ext cx="1417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B"/>
                </a:solidFill>
              </a:rPr>
              <a:t>Gör själv + granskas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0" y="2404872"/>
            <a:ext cx="502920" cy="502920"/>
          </a:xfrm>
          <a:prstGeom prst="rect">
            <a:avLst/>
          </a:prstGeom>
          <a:solidFill>
            <a:srgbClr val="1E7F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3127248"/>
            <a:ext cx="1417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B"/>
                </a:solidFill>
              </a:rPr>
              <a:t>Signerat moment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92640" y="2404872"/>
            <a:ext cx="502920" cy="502920"/>
          </a:xfrm>
          <a:prstGeom prst="rect">
            <a:avLst/>
          </a:prstGeom>
          <a:solidFill>
            <a:srgbClr val="1E7F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81160" y="3127248"/>
            <a:ext cx="1417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B"/>
                </a:solidFill>
              </a:rPr>
              <a:t>Kan utföra själv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101498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Praktisk regel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5093208"/>
            <a:ext cx="10149840" cy="438912"/>
          </a:xfrm>
          <a:prstGeom prst="rect">
            <a:avLst/>
          </a:prstGeom>
          <a:solidFill>
            <a:srgbClr val="FEE4E2"/>
          </a:solidFill>
          <a:ln>
            <a:solidFill>
              <a:srgbClr val="FEE4E2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Om någon är under inskolning: dokumentationen ska inte lämnas som om personen redan är självständig. Dubbelsignera tills protokollet säger annat.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Accesser och verktyg - kontrollera tidigt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Allt behöver inte vara perfekt direkt, men blockers måste ägas och följas upp.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ACCESS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252728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Bas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42032" y="1225296"/>
            <a:ext cx="64465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Datorlogin, mail, Workday, Kontek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Labb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42032" y="2029968"/>
            <a:ext cx="64465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Passerkort, plan 5F, PPE, glasögon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Dokument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42032" y="2834640"/>
            <a:ext cx="64465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Agile PLM1, released revisions, kursrapport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666744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Produktion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42032" y="3639312"/>
            <a:ext cx="64465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MES Camstar, BMRAM, GateKeeper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471416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4443984"/>
            <a:ext cx="64465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N:/QC-mappar, mailgrupper, CSV/SPT/Minitab AD-grupper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12680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C89"/>
                </a:solidFill>
              </a:rPr>
              <a:t>Tracker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57232" y="1719072"/>
            <a:ext cx="1737360" cy="1828800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</a:rPr>
              <a:t>System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</a:rPr>
              <a:t>Status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</a:rPr>
              <a:t>Ägare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</a:rPr>
              <a:t>Nästa steg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81160" y="4617720"/>
            <a:ext cx="25603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16A78"/>
                </a:solidFill>
              </a:rPr>
              <a:t>Saknas är inte en plan.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16A78"/>
                </a:solidFill>
              </a:rPr>
              <a:t>Saknas - Supervisor följer upp IT-ticket är en plan.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 ComplianceWire strular: pappersfallback utan slarv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Inskolning kan fortsätta - men bara med kontrollerad dokumenthantering.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CW/FALLBACK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640080" cy="594360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441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Hämta aktuell released revision från Agile.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72200" y="1325880"/>
            <a:ext cx="640080" cy="594360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49440" y="13441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Läs på skärm eller skriv ut kontrollerad kopia.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640080" cy="594360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3500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Anteckna dokumentnummer och revision i protokollet.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331720"/>
            <a:ext cx="640080" cy="594360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A7C"/>
                </a:solidFill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49440" y="23500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Markera tydligt vad som behöver kompletteras i CW senare.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640080" cy="594360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A7C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3558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Signera bara det som faktiskt är läst/genomgånget.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3337560"/>
            <a:ext cx="640080" cy="594360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4A7C"/>
                </a:solidFill>
              </a:rPr>
              <a:t>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49440" y="33558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När login fungerar: slutför motsvarande CW-training.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5074920"/>
            <a:ext cx="85953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Förbjuden genväg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5458968"/>
            <a:ext cx="8595360" cy="301752"/>
          </a:xfrm>
          <a:prstGeom prst="rect">
            <a:avLst/>
          </a:prstGeom>
          <a:solidFill>
            <a:srgbClr val="FEE4E2"/>
          </a:solidFill>
          <a:ln>
            <a:solidFill>
              <a:srgbClr val="FEE4E2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Använd inte gamla utskrifter eller okänd revision bara för att “det brukar vara samma”.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Säkerhet och labbintro: först, inte sen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Labbmiljön ska kännas trygg innan de följer med in i verkligt flöde.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SÄKERHET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69951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7313B"/>
                </a:solidFill>
              </a:rPr>
              <a:t>Brandrunda: utrymningsvägar, återsamlingsplats och vem man säger till.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Nöd- och ögondusch, förband och hjärtstartare.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Incidentrapport: rapportera direkt - även osäkerhet eller nära-händelse.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PPE: labbrock, handskar, skyddsglasögon och lokala labbgränser.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Kemikalier, biologiskt material och desinfektion enligt aktuella rutiner.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Renhetsklassning och vad som får tas in/ut ur labbmiljö.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66760" y="1508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F4B"/>
                </a:solidFill>
              </a:rPr>
              <a:t>Säkerhetsprincip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47888" y="1993392"/>
            <a:ext cx="2798064" cy="1508760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13B"/>
                </a:solidFill>
              </a:rPr>
              <a:t>Stanna upp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313B"/>
                </a:solidFill>
              </a:rPr>
              <a:t>Fråga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313B"/>
                </a:solidFill>
              </a:rPr>
              <a:t>Rapportera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183880" y="3886200"/>
            <a:ext cx="2971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16A78"/>
                </a:solidFill>
              </a:rPr>
              <a:t>Hellre en extra fråga än ett odokumenterat antagande.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IPT-flödet i stort: från ROBAL till release-underlag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De behöver först förstå helheten - inte alla detaljer första dagen.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IPT-FLÖDE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4612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6344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1540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0" y="2999232"/>
            <a:ext cx="384048" cy="0"/>
          </a:xfrm>
          <a:prstGeom prst="line">
            <a:avLst/>
          </a:prstGeom>
          <a:noFill/>
          <a:ln w="15240">
            <a:solidFill>
              <a:srgbClr val="9AB3C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87552" y="2057400"/>
            <a:ext cx="475488" cy="475488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Kommande körning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404872" y="2057400"/>
            <a:ext cx="475488" cy="475488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4884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Uttag från ROBAL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3822192" y="2057400"/>
            <a:ext cx="475488" cy="475488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6616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Visuell kontroll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239512" y="2057400"/>
            <a:ext cx="475488" cy="475488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Seal test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475488" cy="475488"/>
          </a:xfrm>
          <a:prstGeom prst="rect">
            <a:avLst/>
          </a:prstGeom>
          <a:solidFill>
            <a:srgbClr val="174A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Tillsättning + körning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8074152" y="2057400"/>
            <a:ext cx="475488" cy="475488"/>
          </a:xfrm>
          <a:prstGeom prst="rect">
            <a:avLst/>
          </a:prstGeom>
          <a:solidFill>
            <a:srgbClr val="174A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81812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CSV/data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9491472" y="2057400"/>
            <a:ext cx="475488" cy="475488"/>
          </a:xfrm>
          <a:prstGeom prst="rect">
            <a:avLst/>
          </a:prstGeom>
          <a:solidFill>
            <a:srgbClr val="174A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Sammanställning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10908792" y="2057400"/>
            <a:ext cx="475488" cy="475488"/>
          </a:xfrm>
          <a:prstGeom prst="rect">
            <a:avLst/>
          </a:prstGeom>
          <a:solidFill>
            <a:srgbClr val="174A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8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652760" y="2743200"/>
            <a:ext cx="10058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13B"/>
                </a:solidFill>
              </a:rPr>
              <a:t>Granskning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1234440" y="4572000"/>
            <a:ext cx="97840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89"/>
                </a:solidFill>
              </a:rPr>
              <a:t>Vad de ska förstå vecka 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4956048"/>
            <a:ext cx="9784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Varför vi testar, hur uttag följer produktionen, varför visuell kontroll/seal/data hänger ihop och varför dokumentationen styr release-underlag.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Work: ett sätt att fördela arbetsbelastning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Fokus första veckan: förstå rollernas logik, inte kunna allt direkt.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STANDARD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7C89"/>
                </a:solidFill>
              </a:rPr>
              <a:t>Analyst 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139696"/>
            <a:ext cx="2240280" cy="1481328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Uppställning, visuell kontroll #1 och sealtest-flöde.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5544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7C89"/>
                </a:solidFill>
              </a:rPr>
              <a:t>Analyst 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66160" y="2139696"/>
            <a:ext cx="2240280" cy="1481328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Visuell kontroll #2, tillsättning och start i instrument.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4A7C"/>
                </a:solidFill>
              </a:rPr>
              <a:t>Analyst 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55080" y="2139696"/>
            <a:ext cx="2240280" cy="1481328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Arkivering, rådata, worksheet och avslutande dokumentation.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15544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4A7C"/>
                </a:solidFill>
              </a:rPr>
              <a:t>Support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0" y="2139696"/>
            <a:ext cx="2240280" cy="1481328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Hjälper flödet, kontrollerar status och avlastar där det behövs.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892040"/>
            <a:ext cx="9875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Budskap till sommarjobbare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276088"/>
            <a:ext cx="9875520" cy="393192"/>
          </a:xfrm>
          <a:prstGeom prst="rect">
            <a:avLst/>
          </a:prstGeom>
          <a:solidFill>
            <a:srgbClr val="FFF4D6"/>
          </a:solidFill>
          <a:ln>
            <a:solidFill>
              <a:srgbClr val="FFF4D6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Ni förväntas inte kunna hela Standard Work direkt. Ni ska förstå var ni befinner er i flödet och fråga innan ni tar nästa steg.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Dokumentkartan: vad läses först?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Prioritera kärndokument tidigt. Produktmetoder väljs efter vad de faktiskt ska se.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DOKUMENT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C89"/>
                </a:solidFill>
              </a:rPr>
              <a:t>Inskolning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12848" cy="20299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ITP0057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ITP0057 Attachment 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Aktuella PDR:er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47872" y="1298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7C"/>
                </a:solidFill>
              </a:rPr>
              <a:t>Arbetsflöde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47872" y="1874520"/>
            <a:ext cx="2212848" cy="20299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IT0176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IT0176 Attachment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D22580 / MES-signering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64224" y="1298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F4B"/>
                </a:solidFill>
              </a:rPr>
              <a:t>Metod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64224" y="1874520"/>
            <a:ext cx="2212848" cy="20299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D12547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D9050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D10552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Aktuell produktmetod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80576" y="1298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202"/>
                </a:solidFill>
              </a:rPr>
              <a:t>Visuell / EHS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80576" y="1874520"/>
            <a:ext cx="2212848" cy="20299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D29447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D72438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IT0040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KEM0002/0010/0012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4846320"/>
            <a:ext cx="100584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89"/>
                </a:solidFill>
              </a:rPr>
              <a:t>Praktisk prioritering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5230368"/>
            <a:ext cx="10058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Läs först det som gör att de förstår säkerhet, ansvar, flöde och signering. Detaljerade produktmetoder kommer sedan kopplat till verklig körning.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ComplianceWire: kontrollera curricula, inte bara login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Login räcker inte om fel training saknas eller ligger fel.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CW</a:t>
            </a:r>
            <a:endParaRPr lang="en-US" sz="1100" dirty="0"/>
          </a:p>
        </p:txBody>
      </p:sp>
      <p:pic>
        <p:nvPicPr>
          <p:cNvPr id="5" name="Image 0" descr="/mnt/data/inskol_extract/Inskol-diverse/ComplianceWire curricula f#U00f6r P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90839"/>
            <a:ext cx="3108960" cy="3847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34840" y="1463040"/>
            <a:ext cx="65836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7313B"/>
                </a:solidFill>
              </a:rPr>
              <a:t>Verifiera att IPT/PQC-curricula finns tilldelade.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HR kontaktas om curricula inte dyker upp efter Workday-registrering.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Agile PLM1 behövs för kontrollerade dokument och released revisions.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Pappersfallback ska kompletteras i CW när systemet fungerar.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Signera i protokollet först när tilldelning/läsning faktiskt är bekräftad.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0" y="5074920"/>
            <a:ext cx="6126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89"/>
                </a:solidFill>
              </a:rPr>
              <a:t>Fråga varje morgon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5458968"/>
            <a:ext cx="6126480" cy="164592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Vad är klart i CW, vad är blockerat och vem äger blockern?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 och Klara: olika startläge, samma krav på tydlighet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Tidigare erfarenhet är värdefull - men ersätter inte dokumenterad rekvalificering.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INDIVIDUELL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4A7C"/>
                </a:solidFill>
              </a:rPr>
              <a:t>Nos Arvidsson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828800" y="1938528"/>
            <a:ext cx="2560320" cy="310896"/>
          </a:xfrm>
          <a:prstGeom prst="rect">
            <a:avLst/>
          </a:prstGeom>
          <a:solidFill>
            <a:srgbClr val="E7F0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A7C"/>
                </a:solidFill>
              </a:rPr>
              <a:t>Rekvalificering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41605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7313B"/>
                </a:solidFill>
              </a:rPr>
              <a:t>Supervisor beslutar scope.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Kontrollera ändrade revisioner/metoder.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Demonstrera utvalda moment under handledning.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Signera rekvalificering bara där kraven är uppfyllda.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C89"/>
                </a:solidFill>
              </a:rPr>
              <a:t>Klara Ruke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498080" y="1938528"/>
            <a:ext cx="2651760" cy="310896"/>
          </a:xfrm>
          <a:prstGeom prst="rect">
            <a:avLst/>
          </a:prstGeom>
          <a:solidFill>
            <a:srgbClr val="DDF4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C89"/>
                </a:solidFill>
              </a:rPr>
              <a:t>Full nyinskolning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2514600"/>
            <a:ext cx="41605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7313B"/>
                </a:solidFill>
              </a:rPr>
              <a:t>Starta från grunden enligt ITP0057 Attachment 2.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Säkerhet och CW först.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Observera verkligt flöde innan praktiska moment.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Inget självständigt arbete utan signerat moment.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94560" y="5577840"/>
            <a:ext cx="78638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Gemensamt krav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5961888"/>
            <a:ext cx="7863840" cy="118872"/>
          </a:xfrm>
          <a:prstGeom prst="rect">
            <a:avLst/>
          </a:prstGeom>
          <a:solidFill>
            <a:srgbClr val="FFF4D6"/>
          </a:solidFill>
          <a:ln>
            <a:solidFill>
              <a:srgbClr val="FFF4D6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Båda ska veta exakt vad de får göra, vad de inte får göra och vem de frågar.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Första veckan: enkel struktur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Varje dag ska sluta med blockers, signering och nästa steg.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VECKOPLAN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7315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Mån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252728"/>
            <a:ext cx="8823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13B"/>
                </a:solidFill>
              </a:rPr>
              <a:t>Mottagning, ansvar, pärm, ITP0057, säkerhetsrunda, CW/papper.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7315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002536"/>
            <a:ext cx="8823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13B"/>
                </a:solidFill>
              </a:rPr>
              <a:t>Labbsäkerhet, Standard Work, kärndokument, labborientering.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7315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8823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13B"/>
                </a:solidFill>
              </a:rPr>
              <a:t>Accesskontroll, produktmetod, visuell kontroll, shadowing.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483864"/>
            <a:ext cx="7315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502152"/>
            <a:ext cx="8823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13B"/>
                </a:solidFill>
              </a:rPr>
              <a:t>System/data, sealtest/worksheet-demo, praktisk repetition.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2960" y="4233672"/>
            <a:ext cx="731520" cy="502920"/>
          </a:xfrm>
          <a:prstGeom prst="rect">
            <a:avLst/>
          </a:prstGeom>
          <a:solidFill>
            <a:srgbClr val="007C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4251960"/>
            <a:ext cx="8823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313B"/>
                </a:solidFill>
              </a:rPr>
              <a:t>Muntlig kontroll, pärmstatus, Supervisor-avstämning, vecka 2-plan.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80160" y="5257800"/>
            <a:ext cx="95097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89"/>
                </a:solidFill>
              </a:rPr>
              <a:t>Din tidsstyrning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641848"/>
            <a:ext cx="9509760" cy="301752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Morgon: 30 min styrning. Förmiddag: de läser, du jobbar. Efter lunch: 60-90 min praktiskt. Sista 20 min: blockers och signering.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Förslag: själva konferensrumsgenomgången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Håll den till 60-75 minuter, sedan konkret CW/läsning eller labbrunda.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RUMMET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74A7C"/>
                </a:solidFill>
              </a:rPr>
              <a:t>0-10 min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423160" y="1243584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Välkomna, syfte och förväntningar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74A7C"/>
                </a:solidFill>
              </a:rPr>
              <a:t>10-25 min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423160" y="1901952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Ansvar: Supervisor, handledare, sommarjobbare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78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74A7C"/>
                </a:solidFill>
              </a:rPr>
              <a:t>25-40 min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423160" y="2560320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ITP0057, signering, dubbelsignering, PQ1/PQ3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2369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74A7C"/>
                </a:solidFill>
              </a:rPr>
              <a:t>40-55 min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423160" y="3218688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Accesser, CW och pappersfallback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8953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74A7C"/>
                </a:solidFill>
              </a:rPr>
              <a:t>55-70 min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423160" y="3877056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IPT-flöde, Standard Work och första veckans 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553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74A7C"/>
                </a:solidFill>
              </a:rPr>
              <a:t>70-75 min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423160" y="4535424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13B"/>
                </a:solidFill>
              </a:rPr>
              <a:t>Frågor, blockers och första uppgift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5486400"/>
            <a:ext cx="93268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Bra startuppgift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870448"/>
            <a:ext cx="9326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Be dem skriva ner tre frågor eller osäkerheter efter första läsblocket. Då får du direkt se vad som behöver förklaras.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Fredagens “minimum done”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Målet är inte full produktivitet. Målet är en kontrollerad, spårbar start.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DONE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C89"/>
                </a:solidFill>
              </a:rPr>
              <a:t>Klara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97180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50" dirty="0">
                <a:solidFill>
                  <a:srgbClr val="17313B"/>
                </a:solidFill>
              </a:rPr>
              <a:t>Pärm startad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Säkerhet genomgången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CW/papper påbörjat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IPT-flöde observerat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Vecka 2-plan klar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26280" y="1353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4A7C"/>
                </a:solidFill>
              </a:rPr>
              <a:t>Nos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26280" y="1993392"/>
            <a:ext cx="297180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50" dirty="0">
                <a:solidFill>
                  <a:srgbClr val="17313B"/>
                </a:solidFill>
              </a:rPr>
              <a:t>Rekvalificeringsscope klart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Ändrade revisioner genomgångna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Utvalda moment demonstrerade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Signering endast där krav uppfyllts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Kvarstående lista klar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75320" y="1353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42318"/>
                </a:solidFill>
              </a:rPr>
              <a:t>Supervisor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75320" y="1993392"/>
            <a:ext cx="297180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50" dirty="0">
                <a:solidFill>
                  <a:srgbClr val="17313B"/>
                </a:solidFill>
              </a:rPr>
              <a:t>Blockers ägda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Accesser följda upp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Ingen oklar ansvarspunkt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Nästa vecka prioriterad</a:t>
            </a:r>
            <a:endParaRPr lang="en-US" sz="1650" dirty="0"/>
          </a:p>
          <a:p>
            <a:r>
              <a:rPr lang="en-US" sz="1650" dirty="0">
                <a:solidFill>
                  <a:srgbClr val="17313B"/>
                </a:solidFill>
              </a:rPr>
              <a:t>Självständighet tydligt beslutad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71600" y="5532120"/>
            <a:ext cx="95097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Slutfråga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5916168"/>
            <a:ext cx="9509760" cy="210312"/>
          </a:xfrm>
          <a:prstGeom prst="rect">
            <a:avLst/>
          </a:prstGeom>
          <a:solidFill>
            <a:srgbClr val="FEE4E2"/>
          </a:solidFill>
          <a:ln>
            <a:solidFill>
              <a:srgbClr val="FEE4E2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Finns det något moment någon tror sig få göra självständigt som inte är signerat? Om ja: lös innan vecka 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Actionlista till Supervisor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Kort version att använda i mail eller möte.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76809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7313B"/>
                </a:solidFill>
              </a:rPr>
              <a:t>Bekräfta accessägare för login, mail, QC-mappar, MES, BMRAM, GateKeeper och Agile.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Bekräfta att ComplianceWire-curricula är rätt för båda.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Besluta Nos rekvalificeringsscope innan praktiska moment startar.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Bekräfta att Klara går full nyinskolning enligt ITP0057 Attachment 2.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Säkerställ pärm/mapp, passerkort/labbaccess, PPE och skyddsglasögon-rutin.</a:t>
            </a:r>
            <a:endParaRPr lang="en-US" sz="1800" dirty="0"/>
          </a:p>
          <a:p>
            <a:r>
              <a:rPr lang="en-US" sz="1800" dirty="0">
                <a:solidFill>
                  <a:srgbClr val="17313B"/>
                </a:solidFill>
              </a:rPr>
              <a:t>Boka fredagsavstämning: status, blockers, signering och vecka 2-plan.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068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</a:rPr>
              <a:t>Skicka före start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68512" y="2148840"/>
            <a:ext cx="2834640" cy="1600200"/>
          </a:xfrm>
          <a:prstGeom prst="rect">
            <a:avLst/>
          </a:prstGeom>
          <a:solidFill>
            <a:srgbClr val="FEE4E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13B"/>
                </a:solidFill>
              </a:rPr>
              <a:t>Det här är inte en önskelista.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13B"/>
                </a:solidFill>
              </a:rPr>
              <a:t>Det är förutsättningar för kontrollerad inskolning.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Underlag som presentationen bygger på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A78"/>
                </a:solidFill>
              </a:rPr>
              <a:t>Använd alltid aktuell released revision när ni läser eller signerar.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10896"/>
          </a:xfrm>
          <a:prstGeom prst="rect">
            <a:avLst/>
          </a:prstGeom>
          <a:solidFill>
            <a:srgbClr val="DDF4F3"/>
          </a:solidFill>
          <a:ln>
            <a:solidFill>
              <a:srgbClr val="DDF4F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89"/>
                </a:solidFill>
              </a:rPr>
              <a:t>UNDERLAG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4937760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7313B"/>
                </a:solidFill>
              </a:rPr>
              <a:t>ITP0057 Rev U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ITP0057 Attachment 2 Rev U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Checklista inskolning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Checklista för nya medarbetare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Attachment 1 HR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Attachment 2 Facility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Attachment 3 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4754880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7313B"/>
                </a:solidFill>
              </a:rPr>
              <a:t>Attachment 4 MES access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Attachment 5 BMRAM access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Attachment 7 GateKeeper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Attachment 8 Agile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IT0176 Rev CK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IT0176 Attachment 1 Rev CK</a:t>
            </a:r>
            <a:endParaRPr lang="en-US" sz="1700" dirty="0"/>
          </a:p>
          <a:p>
            <a:r>
              <a:rPr lang="en-US" sz="1700" dirty="0">
                <a:solidFill>
                  <a:srgbClr val="17313B"/>
                </a:solidFill>
              </a:rPr>
              <a:t>Curricula IPT Analysts / CW screenshot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5532120"/>
            <a:ext cx="9875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02"/>
                </a:solidFill>
              </a:rPr>
              <a:t>Kom ihåg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5916168"/>
            <a:ext cx="9875520" cy="182880"/>
          </a:xfrm>
          <a:prstGeom prst="rect">
            <a:avLst/>
          </a:prstGeom>
          <a:solidFill>
            <a:srgbClr val="FFF4D6"/>
          </a:solidFill>
          <a:ln>
            <a:solidFill>
              <a:srgbClr val="FFF4D6">
                <a:alpha val="0"/>
              </a:srgbClr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</a:rPr>
              <a:t>Den här PowerPointen ersätter inte kontrollerade dokument. Den är ett stöd för att starta rätt samtal och rätt inskolningsflöde.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Cepheid 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Första veckan på PQC/IPT</dc:title>
  <dc:subject>PQC/IPT onboarding - summer workers</dc:subject>
  <dc:creator>OpenAI</dc:creator>
  <cp:lastModifiedBy>OpenAI</cp:lastModifiedBy>
  <cp:revision>1</cp:revision>
  <dcterms:created xsi:type="dcterms:W3CDTF">2026-05-27T14:49:40Z</dcterms:created>
  <dcterms:modified xsi:type="dcterms:W3CDTF">2026-05-27T14:49:40Z</dcterms:modified>
</cp:coreProperties>
</file>